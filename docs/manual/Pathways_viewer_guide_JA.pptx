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0adee447-fc42-44c1-5bc6-5cf3de047256}">
          <p14:sldIdLst>
            <p14:sldId id="256"/>
          </p14:sldIdLst>
        </p14:section>
        <p14:section name="基本操作" id="{d46e0baf-b221-8322-1453-4b94f0eb4b35}">
          <p14:sldIdLst>
            <p14:sldId id="257"/>
            <p14:sldId id="258"/>
            <p14:sldId id="259"/>
            <p14:sldId id="260"/>
            <p14:sldId id="261"/>
          </p14:sldIdLst>
        </p14:section>
        <p14:section name="左側のタブ" id="{edd1b167-76ba-3278-999d-c8a0b3b91a09}">
          <p14:sldIdLst>
            <p14:sldId id="262"/>
            <p14:sldId id="263"/>
            <p14:sldId id="264"/>
            <p14:sldId id="265"/>
          </p14:sldIdLst>
        </p14:section>
        <p14:section name="補足" id="{813f0ada-52c1-75d8-818e-709481451f64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7498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ja-JP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955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sz="1800" dirty="0">
                <a:solidFill>
                  <a:srgbClr val="C9D2E0"/>
                </a:solidFill>
              </a:defRPr>
            </a:lvl1pPr>
          </a:lstStyle>
          <a:p>
            <a:pPr algn="l" indent="0" marL="0">
              <a:buNone/>
            </a:pPr>
            <a:endParaRPr lang="ja-JP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ja-JP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chemeClr val="accent6"/>
                </a:solidFill>
              </a:rPr>
              <a:t>raico-lab.github.io/pathways_viewer_sc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1003</a:t>
            </a:fld>
            <a:endParaRPr 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null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raico-lab.github.io/pathways_viewer_sc/" TargetMode="External"/><Relationship Id="rId2" Type="http://schemas.openxmlformats.org/officeDocument/2006/relationships/hyperlink" Target="https://github.com/Raico-lab/pathways_viewer_sc" TargetMode="External"/><Relationship Id="rId4" Type="http://schemas.openxmlformats.org/officeDocument/2006/relationships/hyperlink" Target="https://raico-lab.github.io/pathways_viewer_sc/" TargetMode="External"/><Relationship Id="rId3" Type="http://schemas.openxmlformats.org/officeDocument/2006/relationships/image" Target="../media/image-1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sz="3800" b="1" dirty="0">
                <a:solidFill>
                  <a:schemeClr val="bg1"/>
                </a:solidFill>
              </a:rPr>
              <a:t>Pathways viewer for </a:t>
            </a:r>
            <a:pPr algn="l" indent="0" marL="0">
              <a:buNone/>
            </a:pPr>
            <a:r>
              <a:rPr lang="ja-JP" sz="3800" b="1" i="1" dirty="0">
                <a:solidFill>
                  <a:schemeClr val="bg1"/>
                </a:solidFill>
              </a:rPr>
              <a:t>Saccharomyces cerevisiae</a:t>
            </a:r>
            <a:endParaRPr lang="ja-JP" sz="38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2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https://raico-lab.github.io/pathways_viewer_sc/</a:t>
            </a:r>
            <a:endParaRPr lang="ja-JP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ja-JP" sz="1400" dirty="0">
                <a:solidFill>
                  <a:srgbClr val="C9D2E0"/>
                </a:solidFill>
              </a:rPr>
              <a:t>Web ブラウザで動作し、インストールは不要。GPLv3 のオープンソース。</a:t>
            </a:r>
            <a:endParaRPr lang="ja-JP" sz="1400" dirty="0"/>
          </a:p>
          <a:p>
            <a:pPr indent="0" marL="0">
              <a:spcAft>
                <a:spcPts val="400"/>
              </a:spcAft>
              <a:buNone/>
            </a:pPr>
            <a:r>
              <a:rPr lang="ja-JP" sz="1400" dirty="0">
                <a:solidFill>
                  <a:srgbClr val="C9D2E0"/>
                </a:solidFill>
              </a:rPr>
              <a:t>Chrome、Edge、Safari、Firefox などのデスクトップ版ブラウザを推奨。</a:t>
            </a:r>
            <a:endParaRPr lang="ja-JP" sz="1400" dirty="0"/>
          </a:p>
          <a:p>
            <a:pPr indent="0" marL="0">
              <a:spcAft>
                <a:spcPts val="400"/>
              </a:spcAft>
              <a:buNone/>
            </a:pPr>
            <a:r>
              <a:rPr lang="ja-JP" sz="1400" u="sng" dirty="0">
                <a:solidFill>
                  <a:srgbClr val="C9D2E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ソースコード：github.com/Raico-lab/pathways_viewer_sc</a:t>
            </a:r>
            <a:endParaRPr lang="ja-JP" sz="1400" dirty="0"/>
          </a:p>
        </p:txBody>
      </p:sp>
      <p:sp>
        <p:nvSpPr>
          <p:cNvPr id="5" name="qrCard"/>
          <p:cNvSpPr/>
          <p:nvPr/>
        </p:nvSpPr>
        <p:spPr>
          <a:xfrm>
            <a:off x="8869680" y="20116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Code" descr="https://raico-lab.github.io/pathways_viewer_sc/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148840"/>
            <a:ext cx="2377440" cy="2377440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9260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ja-JP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sz="2800" b="1" dirty="0">
                <a:solidFill>
                  <a:schemeClr val="tx2"/>
                </a:solidFill>
              </a:rPr>
              <a:t>画面構成</a:t>
            </a:r>
            <a:endParaRPr lang="ja-JP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01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1</a:t>
            </a:r>
            <a:endParaRPr lang="ja-JP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左側のタブ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遺伝子・転写因子・経路・条件・破壊株・登録</a:t>
            </a:r>
            <a:endParaRPr lang="ja-JP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2</a:t>
            </a:r>
            <a:endParaRPr lang="ja-JP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検索欄と設定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遺伝子の検索、配置、線の色分け、探索の段数</a:t>
            </a:r>
            <a:endParaRPr lang="ja-JP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34670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3</a:t>
            </a:r>
            <a:endParaRPr lang="ja-JP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328416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地図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遺伝子をノード、関係をエッジとして表示</a:t>
            </a:r>
            <a:endParaRPr lang="ja-JP" sz="1600" dirty="0"/>
          </a:p>
        </p:txBody>
      </p:sp>
      <p:sp>
        <p:nvSpPr>
          <p:cNvPr id="14" name="num4"/>
          <p:cNvSpPr/>
          <p:nvPr/>
        </p:nvSpPr>
        <p:spPr>
          <a:xfrm>
            <a:off x="8321040" y="437083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4370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4</a:t>
            </a:r>
            <a:endParaRPr lang="ja-JP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4352544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凡例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記号の定義。チェックを外すと該当する種類を非表示</a:t>
            </a:r>
            <a:endParaRPr lang="ja-JP" sz="1600" dirty="0"/>
          </a:p>
        </p:txBody>
      </p:sp>
      <p:sp>
        <p:nvSpPr>
          <p:cNvPr id="17" name="num5"/>
          <p:cNvSpPr/>
          <p:nvPr/>
        </p:nvSpPr>
        <p:spPr>
          <a:xfrm>
            <a:off x="8321040" y="539496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5</a:t>
            </a:r>
            <a:endParaRPr lang="ja-JP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0" y="5376672"/>
            <a:ext cx="28648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説明欄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選択した対象の注釈・根拠・文献</a:t>
            </a:r>
            <a:endParaRPr lang="ja-JP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2</a:t>
            </a:fld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sz="2800" b="1" dirty="0">
                <a:solidFill>
                  <a:schemeClr val="tx2"/>
                </a:solidFill>
              </a:rPr>
              <a:t>遺伝子の表示</a:t>
            </a:r>
            <a:endParaRPr lang="ja-JP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02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364328" cy="31304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i="1" dirty="0">
                <a:solidFill>
                  <a:schemeClr val="accent6"/>
                </a:solidFill>
              </a:rPr>
              <a:t>遺伝子の検索</a:t>
            </a:r>
            <a:endParaRPr lang="ja-JP" sz="1200" dirty="0"/>
          </a:p>
        </p:txBody>
      </p:sp>
      <p:sp>
        <p:nvSpPr>
          <p:cNvPr id="6" name="screenFrame"/>
          <p:cNvSpPr/>
          <p:nvPr/>
        </p:nvSpPr>
        <p:spPr>
          <a:xfrm>
            <a:off x="6260440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/private/tmp/claude-501/-Users-rai-----Pathways/6ffe623f-58ac-4054-a933-66d23c8d1ff6/scratchpad/deck/img/ja/03_foc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234440"/>
            <a:ext cx="5364328" cy="31304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78728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i="1" dirty="0">
                <a:solidFill>
                  <a:schemeClr val="accent6"/>
                </a:solidFill>
              </a:rPr>
              <a:t>SCH9 を中心とした地図</a:t>
            </a:r>
            <a:endParaRPr lang="ja-JP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463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ja-JP" sz="1500" dirty="0">
                <a:solidFill>
                  <a:schemeClr val="tx1"/>
                </a:solidFill>
              </a:rPr>
              <a:t>検索欄 ① に標準名または系統名を入力する。例：SCH9、YHR205W。</a:t>
            </a:r>
            <a:endParaRPr lang="ja-JP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ja-JP" sz="1500" dirty="0">
                <a:solidFill>
                  <a:schemeClr val="tx1"/>
                </a:solidFill>
              </a:rPr>
              <a:t>「注目」② を選ぶと、その遺伝子が橙の枠で示される。</a:t>
            </a:r>
            <a:endParaRPr lang="ja-JP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ja-JP" sz="1500" dirty="0">
                <a:solidFill>
                  <a:schemeClr val="tx1"/>
                </a:solidFill>
              </a:rPr>
              <a:t>上流・下流の段数 ② で探索の深さを指定する。多すぎると遺伝子数が多くなり、マップが重くなる。</a:t>
            </a:r>
            <a:endParaRPr lang="ja-JP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3</a:t>
            </a:fld>
            <a:endParaRPr lang="ja-JP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sz="2800" b="1" dirty="0">
                <a:solidFill>
                  <a:schemeClr val="tx2"/>
                </a:solidFill>
              </a:rPr>
              <a:t>選択と拡張</a:t>
            </a:r>
            <a:endParaRPr lang="ja-JP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04_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364328" cy="31304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i="1" dirty="0">
                <a:solidFill>
                  <a:schemeClr val="accent6"/>
                </a:solidFill>
              </a:rPr>
              <a:t>MAF1 の選択</a:t>
            </a:r>
            <a:endParaRPr lang="ja-JP" sz="1200" dirty="0"/>
          </a:p>
        </p:txBody>
      </p:sp>
      <p:sp>
        <p:nvSpPr>
          <p:cNvPr id="6" name="screenFrame"/>
          <p:cNvSpPr/>
          <p:nvPr/>
        </p:nvSpPr>
        <p:spPr>
          <a:xfrm>
            <a:off x="6260440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/private/tmp/claude-501/-Users-rai-----Pathways/6ffe623f-58ac-4054-a933-66d23c8d1ff6/scratchpad/deck/img/ja/06_g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234440"/>
            <a:ext cx="5364328" cy="31304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78728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i="1" dirty="0">
                <a:solidFill>
                  <a:schemeClr val="accent6"/>
                </a:solidFill>
              </a:rPr>
              <a:t>MAF1 を拡張した地図</a:t>
            </a:r>
            <a:endParaRPr lang="ja-JP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463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ja-JP" sz="1500" dirty="0">
                <a:solidFill>
                  <a:schemeClr val="tx1"/>
                </a:solidFill>
              </a:rPr>
              <a:t>遺伝子をクリックすると選択され ①、その遺伝子の関係のみが残る。説明欄 ② に注釈が表示される。Shift を押しながらのクリックで複数選択、背景のクリックで解除。</a:t>
            </a:r>
            <a:endParaRPr lang="ja-JP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ja-JP" sz="1500" dirty="0">
                <a:solidFill>
                  <a:schemeClr val="tx1"/>
                </a:solidFill>
              </a:rPr>
              <a:t>選択中の遺伝子を再度クリックすると「拡張」と「注目」が表示される。拡張は現在の地図を保ったまま、その遺伝子の上流・下流を 1 段マップに加える。</a:t>
            </a:r>
            <a:endParaRPr lang="ja-JP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ja-JP" sz="1500" dirty="0">
                <a:solidFill>
                  <a:schemeClr val="tx1"/>
                </a:solidFill>
              </a:rPr>
              <a:t>拡張した遺伝子は紫の枠で示され ①、凡例の × ② で取り消せる。注目はその遺伝子を中心に地図を描き直す。</a:t>
            </a:r>
            <a:endParaRPr lang="ja-JP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4</a:t>
            </a:fld>
            <a:endParaRPr lang="ja-JP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sz="2800" b="1" dirty="0">
                <a:solidFill>
                  <a:schemeClr val="tx2"/>
                </a:solidFill>
              </a:rPr>
              <a:t>地図の表記</a:t>
            </a:r>
            <a:endParaRPr lang="ja-JP" sz="2800" dirty="0"/>
          </a:p>
        </p:txBody>
      </p:sp>
      <p:sp>
        <p:nvSpPr>
          <p:cNvPr id="3" name="readCard1"/>
          <p:cNvSpPr/>
          <p:nvPr/>
        </p:nvSpPr>
        <p:spPr>
          <a:xfrm>
            <a:off x="548640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chemeClr val="tx2"/>
                </a:solidFill>
              </a:rPr>
              <a:t>線の終端：作用</a:t>
            </a:r>
            <a:endParaRPr lang="ja-JP" sz="1800" dirty="0"/>
          </a:p>
        </p:txBody>
      </p:sp>
      <p:sp>
        <p:nvSpPr>
          <p:cNvPr id="5" name="readCard2"/>
          <p:cNvSpPr/>
          <p:nvPr/>
        </p:nvSpPr>
        <p:spPr>
          <a:xfrm>
            <a:off x="4338218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2538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chemeClr val="tx2"/>
                </a:solidFill>
              </a:rPr>
              <a:t>線の色：機構</a:t>
            </a:r>
            <a:endParaRPr lang="ja-JP" sz="1800" dirty="0"/>
          </a:p>
        </p:txBody>
      </p:sp>
      <p:sp>
        <p:nvSpPr>
          <p:cNvPr id="7" name="readCard3"/>
          <p:cNvSpPr/>
          <p:nvPr/>
        </p:nvSpPr>
        <p:spPr>
          <a:xfrm>
            <a:off x="8127797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02117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chemeClr val="tx2"/>
                </a:solidFill>
              </a:rPr>
              <a:t>ノードと枠</a:t>
            </a:r>
            <a:endParaRPr lang="ja-JP" sz="1800" dirty="0"/>
          </a:p>
        </p:txBody>
      </p:sp>
      <p:sp>
        <p:nvSpPr>
          <p:cNvPr id="9" name="arrow1"/>
          <p:cNvSpPr/>
          <p:nvPr/>
        </p:nvSpPr>
        <p:spPr>
          <a:xfrm>
            <a:off x="822960" y="233172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331720" y="205740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促進</a:t>
            </a:r>
            <a:endParaRPr lang="ja-JP" sz="1400" dirty="0"/>
          </a:p>
        </p:txBody>
      </p:sp>
      <p:sp>
        <p:nvSpPr>
          <p:cNvPr id="11" name="arrow2"/>
          <p:cNvSpPr/>
          <p:nvPr/>
        </p:nvSpPr>
        <p:spPr>
          <a:xfrm>
            <a:off x="822960" y="310896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</a:ln>
        </p:spPr>
      </p:sp>
      <p:sp>
        <p:nvSpPr>
          <p:cNvPr id="12" name="tbar"/>
          <p:cNvSpPr/>
          <p:nvPr/>
        </p:nvSpPr>
        <p:spPr>
          <a:xfrm>
            <a:off x="2011680" y="2990088"/>
            <a:ext cx="0" cy="237744"/>
          </a:xfrm>
          <a:prstGeom prst="line">
            <a:avLst/>
          </a:prstGeom>
          <a:noFill/>
          <a:ln w="38100">
            <a:solidFill>
              <a:srgbClr val="5F6B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1720" y="283464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抑制</a:t>
            </a:r>
            <a:endParaRPr lang="ja-JP" sz="1400" dirty="0"/>
          </a:p>
        </p:txBody>
      </p:sp>
      <p:sp>
        <p:nvSpPr>
          <p:cNvPr id="14" name="arrow3"/>
          <p:cNvSpPr/>
          <p:nvPr/>
        </p:nvSpPr>
        <p:spPr>
          <a:xfrm>
            <a:off x="822960" y="388620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</a:ln>
        </p:spPr>
      </p:sp>
      <p:sp>
        <p:nvSpPr>
          <p:cNvPr id="15" name="diamond"/>
          <p:cNvSpPr/>
          <p:nvPr/>
        </p:nvSpPr>
        <p:spPr>
          <a:xfrm>
            <a:off x="1993392" y="3794760"/>
            <a:ext cx="182880" cy="18288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5F6B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361188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作用不明</a:t>
            </a:r>
            <a:endParaRPr lang="ja-JP" sz="1400" dirty="0"/>
          </a:p>
        </p:txBody>
      </p:sp>
      <p:sp>
        <p:nvSpPr>
          <p:cNvPr id="17" name="arrow4"/>
          <p:cNvSpPr/>
          <p:nvPr/>
        </p:nvSpPr>
        <p:spPr>
          <a:xfrm>
            <a:off x="822960" y="466344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ysDot"/>
          </a:ln>
        </p:spPr>
      </p:sp>
      <p:sp>
        <p:nvSpPr>
          <p:cNvPr id="18" name="Text 16"/>
          <p:cNvSpPr txBox="1"/>
          <p:nvPr/>
        </p:nvSpPr>
        <p:spPr>
          <a:xfrm>
            <a:off x="2331720" y="438912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結合・向きなし</a:t>
            </a:r>
            <a:endParaRPr lang="ja-JP" sz="1400" dirty="0"/>
          </a:p>
        </p:txBody>
      </p:sp>
      <p:sp>
        <p:nvSpPr>
          <p:cNvPr id="19" name="type1"/>
          <p:cNvSpPr/>
          <p:nvPr/>
        </p:nvSpPr>
        <p:spPr>
          <a:xfrm>
            <a:off x="4612538" y="2331720"/>
            <a:ext cx="685800" cy="0"/>
          </a:xfrm>
          <a:prstGeom prst="line">
            <a:avLst/>
          </a:prstGeom>
          <a:noFill/>
          <a:ln w="44450">
            <a:solidFill>
              <a:srgbClr val="F07F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89778" y="219456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dirty="0">
                <a:solidFill>
                  <a:schemeClr val="tx1"/>
                </a:solidFill>
              </a:rPr>
              <a:t>P</a:t>
            </a:r>
            <a:endParaRPr lang="ja-JP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38418" y="207568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リン酸化</a:t>
            </a:r>
            <a:endParaRPr lang="ja-JP" sz="1400" dirty="0"/>
          </a:p>
        </p:txBody>
      </p:sp>
      <p:sp>
        <p:nvSpPr>
          <p:cNvPr id="22" name="type2"/>
          <p:cNvSpPr/>
          <p:nvPr/>
        </p:nvSpPr>
        <p:spPr>
          <a:xfrm>
            <a:off x="4612538" y="2971800"/>
            <a:ext cx="685800" cy="0"/>
          </a:xfrm>
          <a:prstGeom prst="line">
            <a:avLst/>
          </a:prstGeom>
          <a:noFill/>
          <a:ln w="44450">
            <a:solidFill>
              <a:srgbClr val="7B2F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89778" y="283464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dirty="0">
                <a:solidFill>
                  <a:schemeClr val="tx1"/>
                </a:solidFill>
              </a:rPr>
              <a:t>-P</a:t>
            </a:r>
            <a:endParaRPr lang="ja-JP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38418" y="271576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脱リン酸化</a:t>
            </a:r>
            <a:endParaRPr lang="ja-JP" sz="1400" dirty="0"/>
          </a:p>
        </p:txBody>
      </p:sp>
      <p:sp>
        <p:nvSpPr>
          <p:cNvPr id="25" name="type3"/>
          <p:cNvSpPr/>
          <p:nvPr/>
        </p:nvSpPr>
        <p:spPr>
          <a:xfrm>
            <a:off x="4612538" y="3611880"/>
            <a:ext cx="685800" cy="0"/>
          </a:xfrm>
          <a:prstGeom prst="line">
            <a:avLst/>
          </a:prstGeom>
          <a:noFill/>
          <a:ln w="44450">
            <a:solidFill>
              <a:srgbClr val="2F6F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89778" y="347472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dirty="0">
                <a:solidFill>
                  <a:schemeClr val="tx1"/>
                </a:solidFill>
              </a:rPr>
              <a:t>Tx</a:t>
            </a:r>
            <a:endParaRPr lang="ja-JP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38418" y="335584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転写制御</a:t>
            </a:r>
            <a:endParaRPr lang="ja-JP" sz="1400" dirty="0"/>
          </a:p>
        </p:txBody>
      </p:sp>
      <p:sp>
        <p:nvSpPr>
          <p:cNvPr id="28" name="type4"/>
          <p:cNvSpPr/>
          <p:nvPr/>
        </p:nvSpPr>
        <p:spPr>
          <a:xfrm>
            <a:off x="4612538" y="4251960"/>
            <a:ext cx="685800" cy="0"/>
          </a:xfrm>
          <a:prstGeom prst="line">
            <a:avLst/>
          </a:prstGeom>
          <a:noFill/>
          <a:ln w="44450">
            <a:solidFill>
              <a:srgbClr val="5F6B7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89778" y="411480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dirty="0">
                <a:solidFill>
                  <a:schemeClr val="tx1"/>
                </a:solidFill>
              </a:rPr>
              <a:t>—</a:t>
            </a:r>
            <a:endParaRPr lang="ja-JP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38418" y="399592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機構不明</a:t>
            </a:r>
            <a:endParaRPr lang="ja-JP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12538" y="4892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i="1" dirty="0">
                <a:solidFill>
                  <a:schemeClr val="accent6"/>
                </a:solidFill>
              </a:rPr>
              <a:t>作用で色分けすることも可能。赤が促進、青が抑制。</a:t>
            </a:r>
            <a:endParaRPr lang="ja-JP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02117" y="214884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7DC383"/>
          </a:solidFill>
          <a:ln w="31750">
            <a:solidFill>
              <a:srgbClr val="E8710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chemeClr val="tx1"/>
                </a:solidFill>
              </a:rPr>
              <a:t>SCH9</a:t>
            </a:r>
            <a:endParaRPr lang="ja-JP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453677" y="20574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注目した遺伝子</a:t>
            </a:r>
            <a:endParaRPr lang="ja-JP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402117" y="27980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7DC383"/>
          </a:solidFill>
          <a:ln w="12700">
            <a:solidFill>
              <a:srgbClr val="4F8F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900" b="1" dirty="0">
                <a:solidFill>
                  <a:schemeClr val="tx1"/>
                </a:solidFill>
              </a:rPr>
              <a:t>SNF1</a:t>
            </a:r>
            <a:endParaRPr lang="ja-JP" sz="900" dirty="0"/>
          </a:p>
          <a:p>
            <a:pPr algn="ctr" indent="0" marL="0">
              <a:buNone/>
            </a:pPr>
            <a:r>
              <a:rPr lang="ja-JP" sz="900" b="1" dirty="0">
                <a:solidFill>
                  <a:schemeClr val="tx1"/>
                </a:solidFill>
              </a:rPr>
              <a:t>+138</a:t>
            </a:r>
            <a:endParaRPr lang="ja-JP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453677" y="27432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+N：未表示の下流遺伝子数</a:t>
            </a:r>
            <a:endParaRPr lang="ja-JP" sz="1400" dirty="0"/>
          </a:p>
        </p:txBody>
      </p:sp>
      <p:sp>
        <p:nvSpPr>
          <p:cNvPr id="36" name="complexFrame"/>
          <p:cNvSpPr/>
          <p:nvPr/>
        </p:nvSpPr>
        <p:spPr>
          <a:xfrm>
            <a:off x="8402117" y="34838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BF6DC"/>
          </a:solidFill>
          <a:ln w="19050">
            <a:solidFill>
              <a:srgbClr val="B9A93A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9453677" y="34290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破線の枠：タンパク質複合体</a:t>
            </a:r>
            <a:endParaRPr lang="ja-JP" sz="1400" dirty="0"/>
          </a:p>
        </p:txBody>
      </p:sp>
      <p:sp>
        <p:nvSpPr>
          <p:cNvPr id="38" name="paralogOuter"/>
          <p:cNvSpPr/>
          <p:nvPr/>
        </p:nvSpPr>
        <p:spPr>
          <a:xfrm>
            <a:off x="8402117" y="41696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EFE6F6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9" name="paralogInner"/>
          <p:cNvSpPr/>
          <p:nvPr/>
        </p:nvSpPr>
        <p:spPr>
          <a:xfrm>
            <a:off x="8447837" y="4215384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EFE6F6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53677" y="41148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二重線の枠：パラログ</a:t>
            </a:r>
            <a:endParaRPr lang="ja-JP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402117" y="4892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i="1" dirty="0">
                <a:solidFill>
                  <a:schemeClr val="accent6"/>
                </a:solidFill>
              </a:rPr>
              <a:t>上流ほど上段に配置。ノードの色は機能分類を示す。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5</a:t>
            </a:fld>
            <a:endParaRPr lang="ja-JP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sz="2800" b="1" dirty="0">
                <a:solidFill>
                  <a:schemeClr val="tx2"/>
                </a:solidFill>
              </a:rPr>
              <a:t>関係ごとの根拠</a:t>
            </a:r>
            <a:endParaRPr lang="ja-JP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07_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1</a:t>
            </a:r>
            <a:endParaRPr lang="ja-JP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関係の選択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線をクリックすると、その関係の詳細が説明欄に表示される。</a:t>
            </a:r>
            <a:endParaRPr lang="ja-JP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2</a:t>
            </a:r>
            <a:endParaRPr lang="ja-JP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根拠の表示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機構・作用・確度 A〜D・条件・PubMed ID、SGD と YEASTRACT+ へのリンク。</a:t>
            </a:r>
            <a:endParaRPr lang="ja-JP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6</a:t>
            </a:fld>
            <a:endParaRPr lang="ja-JP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sz="2800" b="1" dirty="0">
                <a:solidFill>
                  <a:schemeClr val="tx2"/>
                </a:solidFill>
              </a:rPr>
              <a:t>左側のタブ</a:t>
            </a:r>
            <a:endParaRPr lang="ja-JP" sz="2800" dirty="0"/>
          </a:p>
        </p:txBody>
      </p:sp>
      <p:sp>
        <p:nvSpPr>
          <p:cNvPr id="3" name="tabCard1"/>
          <p:cNvSpPr/>
          <p:nvPr/>
        </p:nvSpPr>
        <p:spPr>
          <a:xfrm>
            <a:off x="548640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3619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500" b="1" dirty="0">
                <a:solidFill>
                  <a:schemeClr val="tx2"/>
                </a:solidFill>
              </a:rPr>
              <a:t>遺伝子</a:t>
            </a:r>
            <a:endParaRPr lang="ja-JP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現在の地図上の遺伝子を注目・拡張・その他に分けて列挙する。選択すると地図上で強調し、注釈を表示する。</a:t>
            </a:r>
            <a:endParaRPr lang="ja-JP" sz="1400" dirty="0"/>
          </a:p>
        </p:txBody>
      </p:sp>
      <p:sp>
        <p:nvSpPr>
          <p:cNvPr id="6" name="tabCard2"/>
          <p:cNvSpPr/>
          <p:nvPr/>
        </p:nvSpPr>
        <p:spPr>
          <a:xfrm>
            <a:off x="4338218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53619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500" b="1" dirty="0">
                <a:solidFill>
                  <a:schemeClr val="tx2"/>
                </a:solidFill>
              </a:rPr>
              <a:t>TF</a:t>
            </a:r>
            <a:endParaRPr lang="ja-JP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0574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注目・拡張した遺伝子を制御する転写因子を作用別に列挙する。チェックした転写因子は地図の最上段に加わる。</a:t>
            </a:r>
            <a:endParaRPr lang="ja-JP" sz="1400" dirty="0"/>
          </a:p>
        </p:txBody>
      </p:sp>
      <p:sp>
        <p:nvSpPr>
          <p:cNvPr id="9" name="tabCard3"/>
          <p:cNvSpPr/>
          <p:nvPr/>
        </p:nvSpPr>
        <p:spPr>
          <a:xfrm>
            <a:off x="8127797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53619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500" b="1" dirty="0">
                <a:solidFill>
                  <a:schemeClr val="tx2"/>
                </a:solidFill>
              </a:rPr>
              <a:t>経路</a:t>
            </a:r>
            <a:endParaRPr lang="ja-JP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0574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チェックした遺伝子間の経路を段数を指定して探索し、選んだ経路を地図上で強調する。</a:t>
            </a:r>
            <a:endParaRPr lang="ja-JP" sz="1400" dirty="0"/>
          </a:p>
        </p:txBody>
      </p:sp>
      <p:sp>
        <p:nvSpPr>
          <p:cNvPr id="12" name="tabCard4"/>
          <p:cNvSpPr/>
          <p:nvPr/>
        </p:nvSpPr>
        <p:spPr>
          <a:xfrm>
            <a:off x="548640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5935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500" b="1" dirty="0">
                <a:solidFill>
                  <a:schemeClr val="tx2"/>
                </a:solidFill>
              </a:rPr>
              <a:t>条件</a:t>
            </a:r>
            <a:endParaRPr lang="ja-JP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805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関係を報告された条件で絞り込む。「遺伝子」では、発現・リン酸化が変化した遺伝子を強調する。</a:t>
            </a:r>
            <a:endParaRPr lang="ja-JP" sz="1400" dirty="0"/>
          </a:p>
        </p:txBody>
      </p:sp>
      <p:sp>
        <p:nvSpPr>
          <p:cNvPr id="15" name="tabCard5"/>
          <p:cNvSpPr/>
          <p:nvPr/>
        </p:nvSpPr>
        <p:spPr>
          <a:xfrm>
            <a:off x="4338218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2538" y="395935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500" b="1" dirty="0">
                <a:solidFill>
                  <a:schemeClr val="tx2"/>
                </a:solidFill>
              </a:rPr>
              <a:t>破壊株</a:t>
            </a:r>
            <a:endParaRPr lang="ja-JP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4805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破壊株で測定された mRNA・リン酸化の変化で地図を色分けする。ある遺伝子を変化させた株も列挙できる。</a:t>
            </a:r>
            <a:endParaRPr lang="ja-JP" sz="1400" dirty="0"/>
          </a:p>
        </p:txBody>
      </p:sp>
      <p:sp>
        <p:nvSpPr>
          <p:cNvPr id="18" name="tabCard6"/>
          <p:cNvSpPr/>
          <p:nvPr/>
        </p:nvSpPr>
        <p:spPr>
          <a:xfrm>
            <a:off x="8127797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2117" y="395935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500" b="1" dirty="0">
                <a:solidFill>
                  <a:schemeClr val="tx2"/>
                </a:solidFill>
              </a:rPr>
              <a:t>登録</a:t>
            </a:r>
            <a:endParaRPr lang="ja-JP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44805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400" dirty="0">
                <a:solidFill>
                  <a:schemeClr val="tx1"/>
                </a:solidFill>
              </a:rPr>
              <a:t>地図の表示状態に名前を付けて保存し、後で呼び出す。保存先はブラウザ。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7</a:t>
            </a:fld>
            <a:endParaRPr lang="ja-JP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sz="2800" b="1" dirty="0">
                <a:solidFill>
                  <a:schemeClr val="tx2"/>
                </a:solidFill>
              </a:rPr>
              <a:t>経路：遺伝子間のつながり</a:t>
            </a:r>
            <a:endParaRPr lang="ja-JP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09_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1</a:t>
            </a:r>
            <a:endParaRPr lang="ja-JP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探索方法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経路の種類と段数を指定する。</a:t>
            </a:r>
            <a:endParaRPr lang="ja-JP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07568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2</a:t>
            </a:r>
            <a:endParaRPr lang="ja-JP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05740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遺伝子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結ぶ対象の注目・拡張遺伝子にチェックする。</a:t>
            </a:r>
            <a:endParaRPr lang="ja-JP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09981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3</a:t>
            </a:r>
            <a:endParaRPr lang="ja-JP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081528"/>
            <a:ext cx="28648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結果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経路を選ぶと地図上で強調される。</a:t>
            </a:r>
            <a:endParaRPr lang="ja-JP" sz="1600" dirty="0"/>
          </a:p>
        </p:txBody>
      </p:sp>
      <p:sp>
        <p:nvSpPr>
          <p:cNvPr id="14" name="num4"/>
          <p:cNvSpPr/>
          <p:nvPr/>
        </p:nvSpPr>
        <p:spPr>
          <a:xfrm>
            <a:off x="8321040" y="387705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3877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4</a:t>
            </a:r>
            <a:endParaRPr lang="ja-JP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3858768"/>
            <a:ext cx="28648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経路の詳細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各段の関係と確度を表示する。</a:t>
            </a:r>
            <a:endParaRPr lang="ja-JP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8</a:t>
            </a:fld>
            <a:endParaRPr lang="ja-JP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sz="2800" b="1" dirty="0">
                <a:solidFill>
                  <a:schemeClr val="tx2"/>
                </a:solidFill>
              </a:rPr>
              <a:t>条件：条件特異的な関係</a:t>
            </a:r>
            <a:endParaRPr lang="ja-JP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6986016" cy="4092071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10_cond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4055495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1</a:t>
            </a:r>
            <a:endParaRPr lang="ja-JP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条件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左上で「経路」か「遺伝子」を選ぶ。「すべて解除」の後、熱ショックや薬剤ストレスなど対象の条件にチェックする。</a:t>
            </a:r>
            <a:endParaRPr lang="ja-JP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81635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2</a:t>
            </a:r>
            <a:endParaRPr lang="ja-JP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798064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該当する関係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その条件で報告された関係のみが地図に残る。</a:t>
            </a:r>
            <a:endParaRPr lang="ja-JP" sz="1600" dirty="0"/>
          </a:p>
        </p:txBody>
      </p:sp>
      <p:sp>
        <p:nvSpPr>
          <p:cNvPr id="11" name="modeCard1"/>
          <p:cNvSpPr/>
          <p:nvPr/>
        </p:nvSpPr>
        <p:spPr>
          <a:xfrm>
            <a:off x="548640" y="5472815"/>
            <a:ext cx="3337560" cy="882265"/>
          </a:xfrm>
          <a:prstGeom prst="roundRect">
            <a:avLst>
              <a:gd name="adj" fmla="val 82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5545967"/>
            <a:ext cx="2971800" cy="73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sz="1500" b="1" dirty="0">
                <a:solidFill>
                  <a:schemeClr val="accent2"/>
                </a:solidFill>
              </a:rPr>
              <a:t>経路</a:t>
            </a:r>
            <a:endParaRPr lang="ja-JP" sz="15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選んだ条件で報告された関係のみを地図に残す。</a:t>
            </a:r>
            <a:endParaRPr lang="ja-JP" sz="1500" dirty="0"/>
          </a:p>
        </p:txBody>
      </p:sp>
      <p:sp>
        <p:nvSpPr>
          <p:cNvPr id="13" name="modeCard2"/>
          <p:cNvSpPr/>
          <p:nvPr/>
        </p:nvSpPr>
        <p:spPr>
          <a:xfrm>
            <a:off x="4160520" y="5472815"/>
            <a:ext cx="3337560" cy="882265"/>
          </a:xfrm>
          <a:prstGeom prst="roundRect">
            <a:avLst>
              <a:gd name="adj" fmla="val 82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43400" y="5545967"/>
            <a:ext cx="2971800" cy="73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sz="1500" b="1" dirty="0">
                <a:solidFill>
                  <a:schemeClr val="accent2"/>
                </a:solidFill>
              </a:rPr>
              <a:t>遺伝子</a:t>
            </a:r>
            <a:endParaRPr lang="ja-JP" sz="15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選んだ条件で mRNA またはリン酸化が 2 倍以上変化した遺伝子を強調する。</a:t>
            </a:r>
            <a:endParaRPr lang="ja-JP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9</a:t>
            </a:fld>
            <a:endParaRPr lang="ja-JP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sz="2800" b="1" dirty="0">
                <a:solidFill>
                  <a:schemeClr val="tx2"/>
                </a:solidFill>
              </a:rPr>
              <a:t>破壊株：破壊株での実測値</a:t>
            </a:r>
            <a:endParaRPr lang="ja-JP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6986016" cy="4092071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11_dele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4055495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1</a:t>
            </a:r>
            <a:endParaRPr lang="ja-JP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株の検索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左上で「壊した遺伝子」か「変化した遺伝子」を選び、遺伝子名を入力する。例：XRN1。</a:t>
            </a:r>
            <a:endParaRPr lang="ja-JP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56946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2</a:t>
            </a:r>
            <a:endParaRPr lang="ja-JP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551176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株の選択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測定値で色分けされる。赤は増加、青は減少。</a:t>
            </a:r>
            <a:endParaRPr lang="ja-JP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59359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400" b="1" dirty="0">
                <a:solidFill>
                  <a:schemeClr val="bg1"/>
                </a:solidFill>
              </a:rPr>
              <a:t>3</a:t>
            </a:r>
            <a:endParaRPr lang="ja-JP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575304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変化した遺伝子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その株で変化した、現在の地図上の遺伝子。</a:t>
            </a:r>
            <a:endParaRPr lang="ja-JP" sz="1600" dirty="0"/>
          </a:p>
        </p:txBody>
      </p:sp>
      <p:sp>
        <p:nvSpPr>
          <p:cNvPr id="14" name="modeCard1"/>
          <p:cNvSpPr/>
          <p:nvPr/>
        </p:nvSpPr>
        <p:spPr>
          <a:xfrm>
            <a:off x="548640" y="5472815"/>
            <a:ext cx="3337560" cy="882265"/>
          </a:xfrm>
          <a:prstGeom prst="roundRect">
            <a:avLst>
              <a:gd name="adj" fmla="val 82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545967"/>
            <a:ext cx="2971800" cy="73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sz="1500" b="1" dirty="0">
                <a:solidFill>
                  <a:schemeClr val="accent2"/>
                </a:solidFill>
              </a:rPr>
              <a:t>壊した遺伝子</a:t>
            </a:r>
            <a:endParaRPr lang="ja-JP" sz="15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破壊株を選び、その株で測定された変化で地図を色分けする。</a:t>
            </a:r>
            <a:endParaRPr lang="ja-JP" sz="1500" dirty="0"/>
          </a:p>
        </p:txBody>
      </p:sp>
      <p:sp>
        <p:nvSpPr>
          <p:cNvPr id="16" name="modeCard2"/>
          <p:cNvSpPr/>
          <p:nvPr/>
        </p:nvSpPr>
        <p:spPr>
          <a:xfrm>
            <a:off x="4160520" y="5472815"/>
            <a:ext cx="3337560" cy="882265"/>
          </a:xfrm>
          <a:prstGeom prst="roundRect">
            <a:avLst>
              <a:gd name="adj" fmla="val 82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43400" y="5545967"/>
            <a:ext cx="2971800" cy="73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sz="1500" b="1" dirty="0">
                <a:solidFill>
                  <a:schemeClr val="accent2"/>
                </a:solidFill>
              </a:rPr>
              <a:t>変化した遺伝子</a:t>
            </a:r>
            <a:endParaRPr lang="ja-JP" sz="1500" dirty="0"/>
          </a:p>
          <a:p>
            <a:pPr indent="0" marL="0">
              <a:spcAft>
                <a:spcPts val="2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地図上の遺伝子を選び、それを変化させた破壊株を列挙する。</a:t>
            </a:r>
            <a:endParaRPr lang="ja-JP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4690872"/>
            <a:ext cx="3322015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i="1" dirty="0">
                <a:solidFill>
                  <a:schemeClr val="accent6"/>
                </a:solidFill>
              </a:rPr>
              <a:t>mRNA：Kemmeren et al. 2014、1,481 株。リン酸化：Bodenmiller et al. 2010、キナーゼ・ホスファターゼ破壊株 113 株。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10</a:t>
            </a:fld>
            <a:endParaRPr lang="ja-JP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sz="2800" b="1" dirty="0">
                <a:solidFill>
                  <a:schemeClr val="tx2"/>
                </a:solidFill>
              </a:rPr>
              <a:t>その他の機能</a:t>
            </a:r>
            <a:endParaRPr lang="ja-JP" sz="2800" dirty="0"/>
          </a:p>
        </p:txBody>
      </p:sp>
      <p:sp>
        <p:nvSpPr>
          <p:cNvPr id="3" name="moreCard1"/>
          <p:cNvSpPr/>
          <p:nvPr/>
        </p:nvSpPr>
        <p:spPr>
          <a:xfrm>
            <a:off x="548640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2000" b="1" dirty="0">
                <a:solidFill>
                  <a:schemeClr val="bg1"/>
                </a:solidFill>
              </a:rPr>
              <a:t>⧉</a:t>
            </a:r>
            <a:endParaRPr lang="ja-JP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複数の表示枠</a:t>
            </a:r>
            <a:endParaRPr lang="ja-JP" sz="1700" dirty="0"/>
          </a:p>
          <a:p>
            <a:pPr indent="0" marL="0">
              <a:spcAft>
                <a:spcPts val="3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最大 4 枚の地図を並べて比較できる。</a:t>
            </a:r>
            <a:endParaRPr lang="ja-JP" sz="1700" dirty="0"/>
          </a:p>
        </p:txBody>
      </p:sp>
      <p:sp>
        <p:nvSpPr>
          <p:cNvPr id="6" name="moreCard2"/>
          <p:cNvSpPr/>
          <p:nvPr/>
        </p:nvSpPr>
        <p:spPr>
          <a:xfrm>
            <a:off x="4338218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55448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2000" b="1" dirty="0">
                <a:solidFill>
                  <a:schemeClr val="bg1"/>
                </a:solidFill>
              </a:rPr>
              <a:t>≡</a:t>
            </a:r>
            <a:endParaRPr lang="ja-JP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データベースタブ</a:t>
            </a:r>
            <a:endParaRPr lang="ja-JP" sz="1700" dirty="0"/>
          </a:p>
          <a:p>
            <a:pPr indent="0" marL="0">
              <a:spcAft>
                <a:spcPts val="3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遺伝子・関係・カテゴリを表形式で閲覧し、絞り込める。</a:t>
            </a:r>
            <a:endParaRPr lang="ja-JP" sz="1700" dirty="0"/>
          </a:p>
        </p:txBody>
      </p:sp>
      <p:sp>
        <p:nvSpPr>
          <p:cNvPr id="9" name="moreCard3"/>
          <p:cNvSpPr/>
          <p:nvPr/>
        </p:nvSpPr>
        <p:spPr>
          <a:xfrm>
            <a:off x="8127797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554480"/>
            <a:ext cx="548640" cy="548640"/>
          </a:xfrm>
          <a:prstGeom prst="ellipse">
            <a:avLst/>
          </a:prstGeom>
          <a:solidFill>
            <a:schemeClr val="accent3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2000" b="1" dirty="0">
                <a:solidFill>
                  <a:schemeClr val="bg1"/>
                </a:solidFill>
              </a:rPr>
              <a:t>↓</a:t>
            </a:r>
            <a:endParaRPr lang="ja-JP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出力</a:t>
            </a:r>
            <a:endParaRPr lang="ja-JP" sz="1700" dirty="0"/>
          </a:p>
          <a:p>
            <a:pPr indent="0" marL="0">
              <a:spcAft>
                <a:spcPts val="3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地図を PNG または SVG で保存できる。</a:t>
            </a:r>
            <a:endParaRPr lang="ja-JP" sz="1700" dirty="0"/>
          </a:p>
        </p:txBody>
      </p:sp>
      <p:sp>
        <p:nvSpPr>
          <p:cNvPr id="12" name="moreCard4"/>
          <p:cNvSpPr/>
          <p:nvPr/>
        </p:nvSpPr>
        <p:spPr>
          <a:xfrm>
            <a:off x="548640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chemeClr val="accent5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300" b="1" dirty="0">
                <a:solidFill>
                  <a:schemeClr val="bg1"/>
                </a:solidFill>
              </a:rPr>
              <a:t>‹ ›</a:t>
            </a:r>
            <a:endParaRPr lang="ja-JP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履歴</a:t>
            </a:r>
            <a:endParaRPr lang="ja-JP" sz="1700" dirty="0"/>
          </a:p>
          <a:p>
            <a:pPr indent="0" marL="0">
              <a:spcAft>
                <a:spcPts val="3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以前の地図と説明に戻れる。</a:t>
            </a:r>
            <a:endParaRPr lang="ja-JP" sz="1700" dirty="0"/>
          </a:p>
        </p:txBody>
      </p:sp>
      <p:sp>
        <p:nvSpPr>
          <p:cNvPr id="15" name="moreCard5"/>
          <p:cNvSpPr/>
          <p:nvPr/>
        </p:nvSpPr>
        <p:spPr>
          <a:xfrm>
            <a:off x="4338218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2538" y="397764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2000" b="1" dirty="0">
                <a:solidFill>
                  <a:schemeClr val="bg1"/>
                </a:solidFill>
              </a:rPr>
              <a:t>?</a:t>
            </a:r>
            <a:endParaRPr lang="ja-JP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Help</a:t>
            </a:r>
            <a:endParaRPr lang="ja-JP" sz="1700" dirty="0"/>
          </a:p>
          <a:p>
            <a:pPr indent="0" marL="0">
              <a:spcAft>
                <a:spcPts val="3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各欄に Help があり、右上から操作ガイドを開ける。</a:t>
            </a:r>
            <a:endParaRPr lang="ja-JP" sz="1700" dirty="0"/>
          </a:p>
        </p:txBody>
      </p:sp>
      <p:sp>
        <p:nvSpPr>
          <p:cNvPr id="18" name="moreCard6"/>
          <p:cNvSpPr/>
          <p:nvPr/>
        </p:nvSpPr>
        <p:spPr>
          <a:xfrm>
            <a:off x="8127797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2117" y="3977640"/>
            <a:ext cx="548640" cy="548640"/>
          </a:xfrm>
          <a:prstGeom prst="ellipse">
            <a:avLst/>
          </a:prstGeom>
          <a:solidFill>
            <a:schemeClr val="tx2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2000" b="1" dirty="0">
                <a:solidFill>
                  <a:schemeClr val="bg1"/>
                </a:solidFill>
              </a:rPr>
              <a:t>A</a:t>
            </a:r>
            <a:endParaRPr lang="ja-JP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言語</a:t>
            </a:r>
            <a:endParaRPr lang="ja-JP" sz="1700" dirty="0"/>
          </a:p>
          <a:p>
            <a:pPr indent="0" marL="0">
              <a:spcAft>
                <a:spcPts val="3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メニューから日本語と英語を切り替えられる。</a:t>
            </a:r>
            <a:endParaRPr lang="ja-JP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ja-JP"/>
              <a:t>11</a:t>
            </a:fld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hways viewer">
  <a:themeElements>
    <a:clrScheme name="Pathways viewer">
      <a:dk1>
        <a:srgbClr val="1B1F27"/>
      </a:dk1>
      <a:lt1>
        <a:srgbClr val="FFFFFF"/>
      </a:lt1>
      <a:dk2>
        <a:srgbClr val="16233B"/>
      </a:dk2>
      <a:lt2>
        <a:srgbClr val="F1F4F8"/>
      </a:lt2>
      <a:accent1>
        <a:srgbClr val="E8710A"/>
      </a:accent1>
      <a:accent2>
        <a:srgbClr val="7B3FA0"/>
      </a:accent2>
      <a:accent3>
        <a:srgbClr val="3E9A4F"/>
      </a:accent3>
      <a:accent4>
        <a:srgbClr val="E03131"/>
      </a:accent4>
      <a:accent5>
        <a:srgbClr val="2F6FB5"/>
      </a:accent5>
      <a:accent6>
        <a:srgbClr val="6B7588"/>
      </a:accent6>
      <a:hlink>
        <a:srgbClr val="2F6FB5"/>
      </a:hlink>
      <a:folHlink>
        <a:srgbClr val="7B3FA0"/>
      </a:folHlink>
    </a:clrScheme>
    <a:fontScheme name="Pathways viewer">
      <a:majorFont>
        <a:latin typeface="Yu Gothic"/>
        <a:ea typeface="Yu Gothic"/>
        <a:cs typeface=""/>
        <a:font script="Jpan" typeface="Yu 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Pathways viewer for Saccharomyces cerevisiae</dc:title>
  <dc:subject>PptxGenJS Presentation</dc:subject>
  <dc:creator>Rai Katsukawa</dc:creator>
  <cp:lastModifiedBy>Rai Katsukawa</cp:lastModifiedBy>
  <cp:revision>1</cp:revision>
  <dcterms:created xsi:type="dcterms:W3CDTF">2026-10-15T06:40:30Z</dcterms:created>
  <dcterms:modified xsi:type="dcterms:W3CDTF">2026-10-15T06:40:30Z</dcterms:modified>
</cp:coreProperties>
</file>