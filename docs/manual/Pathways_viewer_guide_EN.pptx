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c8ef28b2-71b2-5ee1-d0b4-61fa5c8506a2}">
          <p14:sldIdLst>
            <p14:sldId id="256"/>
          </p14:sldIdLst>
        </p14:section>
        <p14:section name="Basic operation" id="{827b14ac-38c0-455b-267a-0cff3f872b71}">
          <p14:sldIdLst>
            <p14:sldId id="257"/>
            <p14:sldId id="258"/>
            <p14:sldId id="259"/>
            <p14:sldId id="260"/>
            <p14:sldId id="261"/>
          </p14:sldIdLst>
        </p14:section>
        <p14:section name="Left-hand tabs" id="{070ca8b0-0837-c41a-e574-c6a8e0075e19}">
          <p14:sldIdLst>
            <p14:sldId id="262"/>
            <p14:sldId id="263"/>
            <p14:sldId id="264"/>
            <p14:sldId id="265"/>
          </p14:sldIdLst>
        </p14:section>
        <p14:section name="Further information" id="{7695c983-19e5-ff6a-3f54-9f17f73c01ba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rgbClr val="16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749808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26080"/>
            <a:ext cx="79552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D2E0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raico-lab.github.io/pathways_viewer_sc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5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5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raico-lab.github.io/pathways_viewer_sc/" TargetMode="External"/><Relationship Id="rId2" Type="http://schemas.openxmlformats.org/officeDocument/2006/relationships/hyperlink" Target="https://github.com/Raico-lab/pathways_viewer_sc" TargetMode="External"/><Relationship Id="rId4" Type="http://schemas.openxmlformats.org/officeDocument/2006/relationships/hyperlink" Target="https://raico-lab.github.io/pathways_viewer_sc/" TargetMode="External"/><Relationship Id="rId3" Type="http://schemas.openxmlformats.org/officeDocument/2006/relationships/image" Target="../media/image-1-1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Pathways viewer for </a:t>
            </a:r>
            <a:pPr algn="l" indent="0" marL="0">
              <a:buNone/>
            </a:pPr>
            <a:r>
              <a:rPr lang="en-US" sz="3800" b="1" i="1" dirty="0">
                <a:solidFill>
                  <a:schemeClr val="bg1"/>
                </a:solidFill>
              </a:rPr>
              <a:t>Saccharomyces cerevisiae</a:t>
            </a:r>
            <a:endParaRPr lang="en-US" sz="3800" dirty="0"/>
          </a:p>
        </p:txBody>
      </p:sp>
      <p:sp>
        <p:nvSpPr>
          <p:cNvPr id="3" name="Text 1">
            <a:hlinkClick r:id="rId1" tooltip=""/>
          </p:cNvPr>
          <p:cNvSpPr txBox="1"/>
          <p:nvPr/>
        </p:nvSpPr>
        <p:spPr>
          <a:xfrm>
            <a:off x="548640" y="40690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u="sng" dirty="0">
                <a:solidFill>
                  <a:schemeClr val="accent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https://raico-lab.github.io/pathways_viewer_sc/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9D2E0"/>
                </a:solidFill>
              </a:rPr>
              <a:t>Runs in a web browser without installation. Open source under GPLv3.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9D2E0"/>
                </a:solidFill>
              </a:rPr>
              <a:t>A desktop browser such as Chrome, Edge, Safari or Firefox is recommended.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u="sng" dirty="0">
                <a:solidFill>
                  <a:srgbClr val="C9D2E0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 code: github.com/Raico-lab/pathways_viewer_sc</a:t>
            </a:r>
            <a:endParaRPr lang="en-US" sz="1400" dirty="0"/>
          </a:p>
        </p:txBody>
      </p:sp>
      <p:sp>
        <p:nvSpPr>
          <p:cNvPr id="5" name="qrCard"/>
          <p:cNvSpPr/>
          <p:nvPr/>
        </p:nvSpPr>
        <p:spPr>
          <a:xfrm>
            <a:off x="8869680" y="2011680"/>
            <a:ext cx="265176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qrCode" descr="https://raico-lab.github.io/pathways_viewer_sc/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0" y="2148840"/>
            <a:ext cx="2377440" cy="2377440"/>
          </a:xfrm>
          <a:prstGeom prst="rect">
            <a:avLst/>
          </a:prstGeom>
        </p:spPr>
      </p:pic>
      <p:sp>
        <p:nvSpPr>
          <p:cNvPr id="7" name="Text 0"/>
          <p:cNvSpPr/>
          <p:nvPr>
            <p:ph idx="101" type="body" hasCustomPrompt="1"/>
          </p:nvPr>
        </p:nvSpPr>
        <p:spPr>
          <a:xfrm>
            <a:off x="548640" y="292608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Interface</a:t>
            </a:r>
            <a:endParaRPr lang="en-US" sz="2800" dirty="0"/>
          </a:p>
        </p:txBody>
      </p:sp>
      <p:sp>
        <p:nvSpPr>
          <p:cNvPr id="3" name="screenFrame"/>
          <p:cNvSpPr/>
          <p:nvPr/>
        </p:nvSpPr>
        <p:spPr>
          <a:xfrm>
            <a:off x="530352" y="1216152"/>
            <a:ext cx="7443216" cy="4358879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private/tmp/claude-501/-Users-rai-----Pathways/6ffe623f-58ac-4054-a933-66d23c8d1ff6/scratchpad/deck/img/en/01_wind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7406640" cy="4322303"/>
          </a:xfrm>
          <a:prstGeom prst="rect">
            <a:avLst/>
          </a:prstGeom>
        </p:spPr>
      </p:pic>
      <p:sp>
        <p:nvSpPr>
          <p:cNvPr id="5" name="num1"/>
          <p:cNvSpPr/>
          <p:nvPr/>
        </p:nvSpPr>
        <p:spPr>
          <a:xfrm>
            <a:off x="8321040" y="1298448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21040" y="1298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778240" y="1280160"/>
            <a:ext cx="2864815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Left-hand tabs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Genes, transcription factors, paths, conditions, deletion strains and saved views</a:t>
            </a:r>
            <a:endParaRPr lang="en-US" sz="1600" dirty="0"/>
          </a:p>
        </p:txBody>
      </p:sp>
      <p:sp>
        <p:nvSpPr>
          <p:cNvPr id="8" name="num2"/>
          <p:cNvSpPr/>
          <p:nvPr/>
        </p:nvSpPr>
        <p:spPr>
          <a:xfrm>
            <a:off x="8321040" y="2569464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21040" y="25694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778240" y="2551176"/>
            <a:ext cx="2864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Search and settings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Gene search, layout, edge colouring and search depth</a:t>
            </a:r>
            <a:endParaRPr lang="en-US" sz="1600" dirty="0"/>
          </a:p>
        </p:txBody>
      </p:sp>
      <p:sp>
        <p:nvSpPr>
          <p:cNvPr id="11" name="num3"/>
          <p:cNvSpPr/>
          <p:nvPr/>
        </p:nvSpPr>
        <p:spPr>
          <a:xfrm>
            <a:off x="8321040" y="3593592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21040" y="3593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778240" y="3575304"/>
            <a:ext cx="2864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Map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Genes as nodes and relations as edges</a:t>
            </a:r>
            <a:endParaRPr lang="en-US" sz="1600" dirty="0"/>
          </a:p>
        </p:txBody>
      </p:sp>
      <p:sp>
        <p:nvSpPr>
          <p:cNvPr id="14" name="num4"/>
          <p:cNvSpPr/>
          <p:nvPr/>
        </p:nvSpPr>
        <p:spPr>
          <a:xfrm>
            <a:off x="8321040" y="4617720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321040" y="4617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778240" y="4599432"/>
            <a:ext cx="2864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Legend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Symbol definitions; unticking an item hides that category</a:t>
            </a:r>
            <a:endParaRPr lang="en-US" sz="1600" dirty="0"/>
          </a:p>
        </p:txBody>
      </p:sp>
      <p:sp>
        <p:nvSpPr>
          <p:cNvPr id="17" name="num5"/>
          <p:cNvSpPr/>
          <p:nvPr/>
        </p:nvSpPr>
        <p:spPr>
          <a:xfrm>
            <a:off x="8321040" y="5641848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321040" y="5641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778240" y="5623560"/>
            <a:ext cx="2864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Details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Annotation, evidence and references for the selected item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5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Displaying a gene</a:t>
            </a:r>
            <a:endParaRPr lang="en-US" sz="2800" dirty="0"/>
          </a:p>
        </p:txBody>
      </p:sp>
      <p:sp>
        <p:nvSpPr>
          <p:cNvPr id="3" name="screenFrame"/>
          <p:cNvSpPr/>
          <p:nvPr/>
        </p:nvSpPr>
        <p:spPr>
          <a:xfrm>
            <a:off x="530352" y="1216152"/>
            <a:ext cx="5400904" cy="3167044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private/tmp/claude-501/-Users-rai-----Pathways/6ffe623f-58ac-4054-a933-66d23c8d1ff6/scratchpad/deck/img/en/02_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5364328" cy="313046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456348"/>
            <a:ext cx="536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Gene search</a:t>
            </a:r>
            <a:endParaRPr lang="en-US" sz="1200" dirty="0"/>
          </a:p>
        </p:txBody>
      </p:sp>
      <p:sp>
        <p:nvSpPr>
          <p:cNvPr id="6" name="screenFrame"/>
          <p:cNvSpPr/>
          <p:nvPr/>
        </p:nvSpPr>
        <p:spPr>
          <a:xfrm>
            <a:off x="6260440" y="1216152"/>
            <a:ext cx="5400904" cy="3167044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screenshot" descr="/private/tmp/claude-501/-Users-rai-----Pathways/6ffe623f-58ac-4054-a933-66d23c8d1ff6/scratchpad/deck/img/en/03_focu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1234440"/>
            <a:ext cx="5364328" cy="31304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278728" y="4456348"/>
            <a:ext cx="536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Map centred on SCH9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484632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Enter a standard or systematic gene name in the search box ①, e.g. SCH9 or YHR205W.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Select Focus ②. The query gene is outlined in orange.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Set the upstream and downstream depth ②. A greater depth adds many genes and makes the map slower.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5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Selection and expansion</a:t>
            </a:r>
            <a:endParaRPr lang="en-US" sz="2800" dirty="0"/>
          </a:p>
        </p:txBody>
      </p:sp>
      <p:sp>
        <p:nvSpPr>
          <p:cNvPr id="3" name="screenFrame"/>
          <p:cNvSpPr/>
          <p:nvPr/>
        </p:nvSpPr>
        <p:spPr>
          <a:xfrm>
            <a:off x="530352" y="1216152"/>
            <a:ext cx="5400904" cy="3167044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private/tmp/claude-501/-Users-rai-----Pathways/6ffe623f-58ac-4054-a933-66d23c8d1ff6/scratchpad/deck/img/en/04_sele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5364328" cy="313046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456348"/>
            <a:ext cx="536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MAF1 selected</a:t>
            </a:r>
            <a:endParaRPr lang="en-US" sz="1200" dirty="0"/>
          </a:p>
        </p:txBody>
      </p:sp>
      <p:sp>
        <p:nvSpPr>
          <p:cNvPr id="6" name="screenFrame"/>
          <p:cNvSpPr/>
          <p:nvPr/>
        </p:nvSpPr>
        <p:spPr>
          <a:xfrm>
            <a:off x="6260440" y="1216152"/>
            <a:ext cx="5400904" cy="3167044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screenshot" descr="/private/tmp/claude-501/-Users-rai-----Pathways/6ffe623f-58ac-4054-a933-66d23c8d1ff6/scratchpad/deck/img/en/06_gr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1234440"/>
            <a:ext cx="5364328" cy="31304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278728" y="4456348"/>
            <a:ext cx="536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Map after expanding MAF1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484632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Clicking a gene selects it ①. Only its relations remain highlighted, and its annotation appears in the details panel ②. Shift-click selects several genes; clicking the background clears the selection.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Clicking a selected gene again offers Expand and Focus. Expand keeps the current map and adds one step upstream and downstream of that gene.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Expanded genes are outlined in purple ① and can be removed with × in the legend ②. Focus redraws the map around the gene.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5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Map notation</a:t>
            </a:r>
            <a:endParaRPr lang="en-US" sz="2800" dirty="0"/>
          </a:p>
        </p:txBody>
      </p:sp>
      <p:sp>
        <p:nvSpPr>
          <p:cNvPr id="3" name="readCard1"/>
          <p:cNvSpPr/>
          <p:nvPr/>
        </p:nvSpPr>
        <p:spPr>
          <a:xfrm>
            <a:off x="548640" y="1280160"/>
            <a:ext cx="3515258" cy="434340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Edge terminus: effect</a:t>
            </a:r>
            <a:endParaRPr lang="en-US" sz="1800" dirty="0"/>
          </a:p>
        </p:txBody>
      </p:sp>
      <p:sp>
        <p:nvSpPr>
          <p:cNvPr id="5" name="readCard2"/>
          <p:cNvSpPr/>
          <p:nvPr/>
        </p:nvSpPr>
        <p:spPr>
          <a:xfrm>
            <a:off x="4338218" y="1280160"/>
            <a:ext cx="3515258" cy="434340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612538" y="150876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Edge colour: mechanism</a:t>
            </a:r>
            <a:endParaRPr lang="en-US" sz="1800" dirty="0"/>
          </a:p>
        </p:txBody>
      </p:sp>
      <p:sp>
        <p:nvSpPr>
          <p:cNvPr id="7" name="readCard3"/>
          <p:cNvSpPr/>
          <p:nvPr/>
        </p:nvSpPr>
        <p:spPr>
          <a:xfrm>
            <a:off x="8127797" y="1280160"/>
            <a:ext cx="3515258" cy="434340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02117" y="150876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Nodes and frames</a:t>
            </a:r>
            <a:endParaRPr lang="en-US" sz="1800" dirty="0"/>
          </a:p>
        </p:txBody>
      </p:sp>
      <p:sp>
        <p:nvSpPr>
          <p:cNvPr id="9" name="arrow1"/>
          <p:cNvSpPr/>
          <p:nvPr/>
        </p:nvSpPr>
        <p:spPr>
          <a:xfrm>
            <a:off x="822960" y="2331720"/>
            <a:ext cx="1188720" cy="0"/>
          </a:xfrm>
          <a:prstGeom prst="line">
            <a:avLst/>
          </a:prstGeom>
          <a:noFill/>
          <a:ln w="31750">
            <a:solidFill>
              <a:srgbClr val="5F6B73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2331720" y="2057400"/>
            <a:ext cx="14578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Activation</a:t>
            </a:r>
            <a:endParaRPr lang="en-US" sz="1400" dirty="0"/>
          </a:p>
        </p:txBody>
      </p:sp>
      <p:sp>
        <p:nvSpPr>
          <p:cNvPr id="11" name="arrow2"/>
          <p:cNvSpPr/>
          <p:nvPr/>
        </p:nvSpPr>
        <p:spPr>
          <a:xfrm>
            <a:off x="822960" y="3108960"/>
            <a:ext cx="1188720" cy="0"/>
          </a:xfrm>
          <a:prstGeom prst="line">
            <a:avLst/>
          </a:prstGeom>
          <a:noFill/>
          <a:ln w="31750">
            <a:solidFill>
              <a:srgbClr val="5F6B73"/>
            </a:solidFill>
            <a:prstDash val="solid"/>
          </a:ln>
        </p:spPr>
      </p:sp>
      <p:sp>
        <p:nvSpPr>
          <p:cNvPr id="12" name="tbar"/>
          <p:cNvSpPr/>
          <p:nvPr/>
        </p:nvSpPr>
        <p:spPr>
          <a:xfrm>
            <a:off x="2011680" y="2990088"/>
            <a:ext cx="0" cy="237744"/>
          </a:xfrm>
          <a:prstGeom prst="line">
            <a:avLst/>
          </a:prstGeom>
          <a:noFill/>
          <a:ln w="38100">
            <a:solidFill>
              <a:srgbClr val="5F6B7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331720" y="2834640"/>
            <a:ext cx="14578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Inhibition</a:t>
            </a:r>
            <a:endParaRPr lang="en-US" sz="1400" dirty="0"/>
          </a:p>
        </p:txBody>
      </p:sp>
      <p:sp>
        <p:nvSpPr>
          <p:cNvPr id="14" name="arrow3"/>
          <p:cNvSpPr/>
          <p:nvPr/>
        </p:nvSpPr>
        <p:spPr>
          <a:xfrm>
            <a:off x="822960" y="3886200"/>
            <a:ext cx="1188720" cy="0"/>
          </a:xfrm>
          <a:prstGeom prst="line">
            <a:avLst/>
          </a:prstGeom>
          <a:noFill/>
          <a:ln w="31750">
            <a:solidFill>
              <a:srgbClr val="5F6B73"/>
            </a:solidFill>
            <a:prstDash val="solid"/>
          </a:ln>
        </p:spPr>
      </p:sp>
      <p:sp>
        <p:nvSpPr>
          <p:cNvPr id="15" name="diamond"/>
          <p:cNvSpPr/>
          <p:nvPr/>
        </p:nvSpPr>
        <p:spPr>
          <a:xfrm>
            <a:off x="1993392" y="3794760"/>
            <a:ext cx="182880" cy="182880"/>
          </a:xfrm>
          <a:prstGeom prst="diamond">
            <a:avLst/>
          </a:prstGeom>
          <a:solidFill>
            <a:srgbClr val="FFFFFF"/>
          </a:solidFill>
          <a:ln w="25400">
            <a:solidFill>
              <a:srgbClr val="5F6B7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331720" y="3611880"/>
            <a:ext cx="14578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Unknown effect</a:t>
            </a:r>
            <a:endParaRPr lang="en-US" sz="1400" dirty="0"/>
          </a:p>
        </p:txBody>
      </p:sp>
      <p:sp>
        <p:nvSpPr>
          <p:cNvPr id="17" name="arrow4"/>
          <p:cNvSpPr/>
          <p:nvPr/>
        </p:nvSpPr>
        <p:spPr>
          <a:xfrm>
            <a:off x="822960" y="4663440"/>
            <a:ext cx="1188720" cy="0"/>
          </a:xfrm>
          <a:prstGeom prst="line">
            <a:avLst/>
          </a:prstGeom>
          <a:noFill/>
          <a:ln w="31750">
            <a:solidFill>
              <a:srgbClr val="5F6B73"/>
            </a:solidFill>
            <a:prstDash val="sysDot"/>
          </a:ln>
        </p:spPr>
      </p:sp>
      <p:sp>
        <p:nvSpPr>
          <p:cNvPr id="18" name="Text 16"/>
          <p:cNvSpPr txBox="1"/>
          <p:nvPr/>
        </p:nvSpPr>
        <p:spPr>
          <a:xfrm>
            <a:off x="2331720" y="4389120"/>
            <a:ext cx="14578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Undirected binding</a:t>
            </a:r>
            <a:endParaRPr lang="en-US" sz="1400" dirty="0"/>
          </a:p>
        </p:txBody>
      </p:sp>
      <p:sp>
        <p:nvSpPr>
          <p:cNvPr id="19" name="type1"/>
          <p:cNvSpPr/>
          <p:nvPr/>
        </p:nvSpPr>
        <p:spPr>
          <a:xfrm>
            <a:off x="4612538" y="2331720"/>
            <a:ext cx="685800" cy="0"/>
          </a:xfrm>
          <a:prstGeom prst="line">
            <a:avLst/>
          </a:prstGeom>
          <a:noFill/>
          <a:ln w="44450">
            <a:solidFill>
              <a:srgbClr val="F07F1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389778" y="2194560"/>
            <a:ext cx="4114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AAB2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938418" y="2075688"/>
            <a:ext cx="164073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Phosphorylation</a:t>
            </a:r>
            <a:endParaRPr lang="en-US" sz="1400" dirty="0"/>
          </a:p>
        </p:txBody>
      </p:sp>
      <p:sp>
        <p:nvSpPr>
          <p:cNvPr id="22" name="type2"/>
          <p:cNvSpPr/>
          <p:nvPr/>
        </p:nvSpPr>
        <p:spPr>
          <a:xfrm>
            <a:off x="4612538" y="2971800"/>
            <a:ext cx="685800" cy="0"/>
          </a:xfrm>
          <a:prstGeom prst="line">
            <a:avLst/>
          </a:prstGeom>
          <a:noFill/>
          <a:ln w="44450">
            <a:solidFill>
              <a:srgbClr val="7B2FA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389778" y="2834640"/>
            <a:ext cx="4114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AAB2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-P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938418" y="2715768"/>
            <a:ext cx="164073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Dephosphorylation</a:t>
            </a:r>
            <a:endParaRPr lang="en-US" sz="1400" dirty="0"/>
          </a:p>
        </p:txBody>
      </p:sp>
      <p:sp>
        <p:nvSpPr>
          <p:cNvPr id="25" name="type3"/>
          <p:cNvSpPr/>
          <p:nvPr/>
        </p:nvSpPr>
        <p:spPr>
          <a:xfrm>
            <a:off x="4612538" y="3611880"/>
            <a:ext cx="685800" cy="0"/>
          </a:xfrm>
          <a:prstGeom prst="line">
            <a:avLst/>
          </a:prstGeom>
          <a:noFill/>
          <a:ln w="44450">
            <a:solidFill>
              <a:srgbClr val="2F6FD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389778" y="3474720"/>
            <a:ext cx="4114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AAB2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938418" y="3355848"/>
            <a:ext cx="164073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Transcriptional regulation</a:t>
            </a:r>
            <a:endParaRPr lang="en-US" sz="1400" dirty="0"/>
          </a:p>
        </p:txBody>
      </p:sp>
      <p:sp>
        <p:nvSpPr>
          <p:cNvPr id="28" name="type4"/>
          <p:cNvSpPr/>
          <p:nvPr/>
        </p:nvSpPr>
        <p:spPr>
          <a:xfrm>
            <a:off x="4612538" y="4251960"/>
            <a:ext cx="685800" cy="0"/>
          </a:xfrm>
          <a:prstGeom prst="line">
            <a:avLst/>
          </a:prstGeom>
          <a:noFill/>
          <a:ln w="44450">
            <a:solidFill>
              <a:srgbClr val="5F6B7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389778" y="4114800"/>
            <a:ext cx="4114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AAB2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—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938418" y="3995928"/>
            <a:ext cx="164073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Unknown mechanism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4612538" y="4892040"/>
            <a:ext cx="29666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Edges can instead be coloured by effect: red for activation, blue for inhibition.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402117" y="2148840"/>
            <a:ext cx="868680" cy="365760"/>
          </a:xfrm>
          <a:prstGeom prst="roundRect">
            <a:avLst>
              <a:gd name="adj" fmla="val 15000"/>
            </a:avLst>
          </a:prstGeom>
          <a:solidFill>
            <a:srgbClr val="7DC383"/>
          </a:solidFill>
          <a:ln w="31750">
            <a:solidFill>
              <a:srgbClr val="E8710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SCH9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9453677" y="2057400"/>
            <a:ext cx="1915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Focused gene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8402117" y="2798064"/>
            <a:ext cx="868680" cy="438912"/>
          </a:xfrm>
          <a:prstGeom prst="roundRect">
            <a:avLst>
              <a:gd name="adj" fmla="val 12500"/>
            </a:avLst>
          </a:prstGeom>
          <a:solidFill>
            <a:srgbClr val="7DC383"/>
          </a:solidFill>
          <a:ln w="12700">
            <a:solidFill>
              <a:srgbClr val="4F8F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SNF1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+138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9453677" y="2743200"/>
            <a:ext cx="1915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+N: undisplayed downstream genes</a:t>
            </a:r>
            <a:endParaRPr lang="en-US" sz="1400" dirty="0"/>
          </a:p>
        </p:txBody>
      </p:sp>
      <p:sp>
        <p:nvSpPr>
          <p:cNvPr id="36" name="complexFrame"/>
          <p:cNvSpPr/>
          <p:nvPr/>
        </p:nvSpPr>
        <p:spPr>
          <a:xfrm>
            <a:off x="8402117" y="3483864"/>
            <a:ext cx="868680" cy="438912"/>
          </a:xfrm>
          <a:prstGeom prst="roundRect">
            <a:avLst>
              <a:gd name="adj" fmla="val 12500"/>
            </a:avLst>
          </a:prstGeom>
          <a:solidFill>
            <a:srgbClr val="FBF6DC"/>
          </a:solidFill>
          <a:ln w="19050">
            <a:solidFill>
              <a:srgbClr val="B9A93A"/>
            </a:solidFill>
            <a:prstDash val="dash"/>
          </a:ln>
        </p:spPr>
      </p:sp>
      <p:sp>
        <p:nvSpPr>
          <p:cNvPr id="37" name="Text 35"/>
          <p:cNvSpPr txBox="1"/>
          <p:nvPr/>
        </p:nvSpPr>
        <p:spPr>
          <a:xfrm>
            <a:off x="9453677" y="3429000"/>
            <a:ext cx="1915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Dashed frame: protein complex</a:t>
            </a:r>
            <a:endParaRPr lang="en-US" sz="1400" dirty="0"/>
          </a:p>
        </p:txBody>
      </p:sp>
      <p:sp>
        <p:nvSpPr>
          <p:cNvPr id="38" name="paralogOuter"/>
          <p:cNvSpPr/>
          <p:nvPr/>
        </p:nvSpPr>
        <p:spPr>
          <a:xfrm>
            <a:off x="8402117" y="4169664"/>
            <a:ext cx="868680" cy="438912"/>
          </a:xfrm>
          <a:prstGeom prst="roundRect">
            <a:avLst>
              <a:gd name="adj" fmla="val 12500"/>
            </a:avLst>
          </a:prstGeom>
          <a:solidFill>
            <a:srgbClr val="EFE6F6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39" name="paralogInner"/>
          <p:cNvSpPr/>
          <p:nvPr/>
        </p:nvSpPr>
        <p:spPr>
          <a:xfrm>
            <a:off x="8447837" y="4215384"/>
            <a:ext cx="777240" cy="347472"/>
          </a:xfrm>
          <a:prstGeom prst="roundRect">
            <a:avLst>
              <a:gd name="adj" fmla="val 13158"/>
            </a:avLst>
          </a:prstGeom>
          <a:solidFill>
            <a:srgbClr val="EFE6F6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453677" y="4114800"/>
            <a:ext cx="1915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Double frame: paralog pair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8402117" y="4892040"/>
            <a:ext cx="29666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Upstream genes are placed higher. Node colour indicates functional class.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5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Evidence for each relation</a:t>
            </a:r>
            <a:endParaRPr lang="en-US" sz="2800" dirty="0"/>
          </a:p>
        </p:txBody>
      </p:sp>
      <p:sp>
        <p:nvSpPr>
          <p:cNvPr id="3" name="screenFrame"/>
          <p:cNvSpPr/>
          <p:nvPr/>
        </p:nvSpPr>
        <p:spPr>
          <a:xfrm>
            <a:off x="530352" y="1216152"/>
            <a:ext cx="7443216" cy="4358879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private/tmp/claude-501/-Users-rai-----Pathways/6ffe623f-58ac-4054-a933-66d23c8d1ff6/scratchpad/deck/img/en/07_e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7406640" cy="4322303"/>
          </a:xfrm>
          <a:prstGeom prst="rect">
            <a:avLst/>
          </a:prstGeom>
        </p:spPr>
      </p:pic>
      <p:sp>
        <p:nvSpPr>
          <p:cNvPr id="5" name="num1"/>
          <p:cNvSpPr/>
          <p:nvPr/>
        </p:nvSpPr>
        <p:spPr>
          <a:xfrm>
            <a:off x="8321040" y="1298448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21040" y="1298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778240" y="1280160"/>
            <a:ext cx="2864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Selecting a relation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Clicking an edge shows the relation in the details panel.</a:t>
            </a:r>
            <a:endParaRPr lang="en-US" sz="1600" dirty="0"/>
          </a:p>
        </p:txBody>
      </p:sp>
      <p:sp>
        <p:nvSpPr>
          <p:cNvPr id="8" name="num2"/>
          <p:cNvSpPr/>
          <p:nvPr/>
        </p:nvSpPr>
        <p:spPr>
          <a:xfrm>
            <a:off x="8321040" y="2322576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21040" y="23225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778240" y="2304288"/>
            <a:ext cx="2864815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Evidence panel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Mechanism, effect, confidence grade A–D, conditions, PubMed identifiers and links to SGD and YEASTRACT+.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5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Left-hand tabs</a:t>
            </a:r>
            <a:endParaRPr lang="en-US" sz="2800" dirty="0"/>
          </a:p>
        </p:txBody>
      </p:sp>
      <p:sp>
        <p:nvSpPr>
          <p:cNvPr id="3" name="tabCard1"/>
          <p:cNvSpPr/>
          <p:nvPr/>
        </p:nvSpPr>
        <p:spPr>
          <a:xfrm>
            <a:off x="548640" y="1280160"/>
            <a:ext cx="3515258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36192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AAB2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Genes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5740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Lists genes on the current map, grouped as focused, expanded and others. Selecting a gene highlights it and shows its annotation.</a:t>
            </a:r>
            <a:endParaRPr lang="en-US" sz="1400" dirty="0"/>
          </a:p>
        </p:txBody>
      </p:sp>
      <p:sp>
        <p:nvSpPr>
          <p:cNvPr id="6" name="tabCard2"/>
          <p:cNvSpPr/>
          <p:nvPr/>
        </p:nvSpPr>
        <p:spPr>
          <a:xfrm>
            <a:off x="4338218" y="1280160"/>
            <a:ext cx="3515258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12538" y="1536192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AAB2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TFs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612538" y="205740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Lists transcription factors regulating the focused and expanded genes, grouped by effect. Ticked factors are added to the top row of the map.</a:t>
            </a:r>
            <a:endParaRPr lang="en-US" sz="1400" dirty="0"/>
          </a:p>
        </p:txBody>
      </p:sp>
      <p:sp>
        <p:nvSpPr>
          <p:cNvPr id="9" name="tabCard3"/>
          <p:cNvSpPr/>
          <p:nvPr/>
        </p:nvSpPr>
        <p:spPr>
          <a:xfrm>
            <a:off x="8127797" y="1280160"/>
            <a:ext cx="3515258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02117" y="1536192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AAB2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Paths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402117" y="205740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Searches for paths between ticked genes with a specified number of steps and highlights the selected path.</a:t>
            </a:r>
            <a:endParaRPr lang="en-US" sz="1400" dirty="0"/>
          </a:p>
        </p:txBody>
      </p:sp>
      <p:sp>
        <p:nvSpPr>
          <p:cNvPr id="12" name="tabCard4"/>
          <p:cNvSpPr/>
          <p:nvPr/>
        </p:nvSpPr>
        <p:spPr>
          <a:xfrm>
            <a:off x="548640" y="3703320"/>
            <a:ext cx="3515258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959352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AAB2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Conditions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48056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Filters relations by the conditions under which they were reported. Genes mode highlights genes whose expression or phosphorylation changes.</a:t>
            </a:r>
            <a:endParaRPr lang="en-US" sz="1400" dirty="0"/>
          </a:p>
        </p:txBody>
      </p:sp>
      <p:sp>
        <p:nvSpPr>
          <p:cNvPr id="15" name="tabCard5"/>
          <p:cNvSpPr/>
          <p:nvPr/>
        </p:nvSpPr>
        <p:spPr>
          <a:xfrm>
            <a:off x="4338218" y="3703320"/>
            <a:ext cx="3515258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12538" y="3959352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AAB2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Deletions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612538" y="448056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Colours the map by mRNA or phosphorylation changes measured in deletion strains, and lists strains that affect a given gene.</a:t>
            </a:r>
            <a:endParaRPr lang="en-US" sz="1400" dirty="0"/>
          </a:p>
        </p:txBody>
      </p:sp>
      <p:sp>
        <p:nvSpPr>
          <p:cNvPr id="18" name="tabCard6"/>
          <p:cNvSpPr/>
          <p:nvPr/>
        </p:nvSpPr>
        <p:spPr>
          <a:xfrm>
            <a:off x="8127797" y="3703320"/>
            <a:ext cx="3515258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02117" y="3959352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AAB2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Saved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402117" y="448056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Stores the current map state under a name for later recall. Saved views are kept in the browser.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5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Paths: connections between genes</a:t>
            </a:r>
            <a:endParaRPr lang="en-US" sz="2800" dirty="0"/>
          </a:p>
        </p:txBody>
      </p:sp>
      <p:sp>
        <p:nvSpPr>
          <p:cNvPr id="3" name="screenFrame"/>
          <p:cNvSpPr/>
          <p:nvPr/>
        </p:nvSpPr>
        <p:spPr>
          <a:xfrm>
            <a:off x="530352" y="1216152"/>
            <a:ext cx="7443216" cy="4358879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private/tmp/claude-501/-Users-rai-----Pathways/6ffe623f-58ac-4054-a933-66d23c8d1ff6/scratchpad/deck/img/en/09_rel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7406640" cy="4322303"/>
          </a:xfrm>
          <a:prstGeom prst="rect">
            <a:avLst/>
          </a:prstGeom>
        </p:spPr>
      </p:pic>
      <p:sp>
        <p:nvSpPr>
          <p:cNvPr id="5" name="num1"/>
          <p:cNvSpPr/>
          <p:nvPr/>
        </p:nvSpPr>
        <p:spPr>
          <a:xfrm>
            <a:off x="8321040" y="1298448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21040" y="1298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778240" y="1280160"/>
            <a:ext cx="2864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Search mode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Select the path type and the number of steps.</a:t>
            </a:r>
            <a:endParaRPr lang="en-US" sz="1600" dirty="0"/>
          </a:p>
        </p:txBody>
      </p:sp>
      <p:sp>
        <p:nvSpPr>
          <p:cNvPr id="8" name="num2"/>
          <p:cNvSpPr/>
          <p:nvPr/>
        </p:nvSpPr>
        <p:spPr>
          <a:xfrm>
            <a:off x="8321040" y="2322576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21040" y="23225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778240" y="2304288"/>
            <a:ext cx="2864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Genes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Tick the focused or expanded genes to be connected.</a:t>
            </a:r>
            <a:endParaRPr lang="en-US" sz="1600" dirty="0"/>
          </a:p>
        </p:txBody>
      </p:sp>
      <p:sp>
        <p:nvSpPr>
          <p:cNvPr id="11" name="num3"/>
          <p:cNvSpPr/>
          <p:nvPr/>
        </p:nvSpPr>
        <p:spPr>
          <a:xfrm>
            <a:off x="8321040" y="3346704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21040" y="33467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778240" y="3328416"/>
            <a:ext cx="2864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Results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Selecting a path highlights it on the map.</a:t>
            </a:r>
            <a:endParaRPr lang="en-US" sz="1600" dirty="0"/>
          </a:p>
        </p:txBody>
      </p:sp>
      <p:sp>
        <p:nvSpPr>
          <p:cNvPr id="14" name="num4"/>
          <p:cNvSpPr/>
          <p:nvPr/>
        </p:nvSpPr>
        <p:spPr>
          <a:xfrm>
            <a:off x="8321040" y="4370832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321040" y="43708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778240" y="4352544"/>
            <a:ext cx="2864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Path details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Each step is listed with its confidence grade.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5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Conditions: condition-specific relations</a:t>
            </a:r>
            <a:endParaRPr lang="en-US" sz="2800" dirty="0"/>
          </a:p>
        </p:txBody>
      </p:sp>
      <p:sp>
        <p:nvSpPr>
          <p:cNvPr id="3" name="screenFrame"/>
          <p:cNvSpPr/>
          <p:nvPr/>
        </p:nvSpPr>
        <p:spPr>
          <a:xfrm>
            <a:off x="530352" y="1216152"/>
            <a:ext cx="6986016" cy="4092071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private/tmp/claude-501/-Users-rai-----Pathways/6ffe623f-58ac-4054-a933-66d23c8d1ff6/scratchpad/deck/img/en/10_condi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6949440" cy="4055495"/>
          </a:xfrm>
          <a:prstGeom prst="rect">
            <a:avLst/>
          </a:prstGeom>
        </p:spPr>
      </p:pic>
      <p:sp>
        <p:nvSpPr>
          <p:cNvPr id="5" name="num1"/>
          <p:cNvSpPr/>
          <p:nvPr/>
        </p:nvSpPr>
        <p:spPr>
          <a:xfrm>
            <a:off x="8321040" y="1298448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21040" y="1298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778240" y="1280160"/>
            <a:ext cx="2864815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Conditions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Choose Paths or Genes at the top left. Clear all, then tick the conditions of interest, such as heat shock or drug stress.</a:t>
            </a:r>
            <a:endParaRPr lang="en-US" sz="1600" dirty="0"/>
          </a:p>
        </p:txBody>
      </p:sp>
      <p:sp>
        <p:nvSpPr>
          <p:cNvPr id="8" name="num2"/>
          <p:cNvSpPr/>
          <p:nvPr/>
        </p:nvSpPr>
        <p:spPr>
          <a:xfrm>
            <a:off x="8321040" y="2816352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21040" y="28163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778240" y="2798064"/>
            <a:ext cx="2864815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Matching relations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Only relations reported under these conditions remain on the map.</a:t>
            </a:r>
            <a:endParaRPr lang="en-US" sz="1600" dirty="0"/>
          </a:p>
        </p:txBody>
      </p:sp>
      <p:sp>
        <p:nvSpPr>
          <p:cNvPr id="11" name="modeCard1"/>
          <p:cNvSpPr/>
          <p:nvPr/>
        </p:nvSpPr>
        <p:spPr>
          <a:xfrm>
            <a:off x="548640" y="5472815"/>
            <a:ext cx="3337560" cy="882265"/>
          </a:xfrm>
          <a:prstGeom prst="roundRect">
            <a:avLst>
              <a:gd name="adj" fmla="val 82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5545967"/>
            <a:ext cx="2971800" cy="735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Paths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Relations reported under the selected conditions remain on the map.</a:t>
            </a:r>
            <a:endParaRPr lang="en-US" sz="1500" dirty="0"/>
          </a:p>
        </p:txBody>
      </p:sp>
      <p:sp>
        <p:nvSpPr>
          <p:cNvPr id="13" name="modeCard2"/>
          <p:cNvSpPr/>
          <p:nvPr/>
        </p:nvSpPr>
        <p:spPr>
          <a:xfrm>
            <a:off x="4160520" y="5472815"/>
            <a:ext cx="3337560" cy="882265"/>
          </a:xfrm>
          <a:prstGeom prst="roundRect">
            <a:avLst>
              <a:gd name="adj" fmla="val 82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343400" y="5545967"/>
            <a:ext cx="2971800" cy="735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Genes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Genes whose mRNA or phosphorylation changes at least twofold under the selected conditions are highlighted.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5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Deletions: measurements in deletion strains</a:t>
            </a:r>
            <a:endParaRPr lang="en-US" sz="2800" dirty="0"/>
          </a:p>
        </p:txBody>
      </p:sp>
      <p:sp>
        <p:nvSpPr>
          <p:cNvPr id="3" name="screenFrame"/>
          <p:cNvSpPr/>
          <p:nvPr/>
        </p:nvSpPr>
        <p:spPr>
          <a:xfrm>
            <a:off x="530352" y="1216152"/>
            <a:ext cx="6986016" cy="4092071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private/tmp/claude-501/-Users-rai-----Pathways/6ffe623f-58ac-4054-a933-66d23c8d1ff6/scratchpad/deck/img/en/11_dele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6949440" cy="4055495"/>
          </a:xfrm>
          <a:prstGeom prst="rect">
            <a:avLst/>
          </a:prstGeom>
        </p:spPr>
      </p:pic>
      <p:sp>
        <p:nvSpPr>
          <p:cNvPr id="5" name="num1"/>
          <p:cNvSpPr/>
          <p:nvPr/>
        </p:nvSpPr>
        <p:spPr>
          <a:xfrm>
            <a:off x="8321040" y="1298448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21040" y="1298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778240" y="1280160"/>
            <a:ext cx="2864815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Strain search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Choose Deleted gene or Changed gene at the top left, then enter a gene name, e.g. XRN1.</a:t>
            </a:r>
            <a:endParaRPr lang="en-US" sz="1600" dirty="0"/>
          </a:p>
        </p:txBody>
      </p:sp>
      <p:sp>
        <p:nvSpPr>
          <p:cNvPr id="8" name="num2"/>
          <p:cNvSpPr/>
          <p:nvPr/>
        </p:nvSpPr>
        <p:spPr>
          <a:xfrm>
            <a:off x="8321040" y="2569464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21040" y="25694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778240" y="2551176"/>
            <a:ext cx="2864815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Strain selection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Nodes are coloured by measured change: red, increased; blue, decreased.</a:t>
            </a:r>
            <a:endParaRPr lang="en-US" sz="1600" dirty="0"/>
          </a:p>
        </p:txBody>
      </p:sp>
      <p:sp>
        <p:nvSpPr>
          <p:cNvPr id="11" name="num3"/>
          <p:cNvSpPr/>
          <p:nvPr/>
        </p:nvSpPr>
        <p:spPr>
          <a:xfrm>
            <a:off x="8321040" y="3840480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21040" y="3840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778240" y="3822192"/>
            <a:ext cx="2864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Changed genes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Genes on the current map that changed in the strain.</a:t>
            </a:r>
            <a:endParaRPr lang="en-US" sz="1600" dirty="0"/>
          </a:p>
        </p:txBody>
      </p:sp>
      <p:sp>
        <p:nvSpPr>
          <p:cNvPr id="14" name="modeCard1"/>
          <p:cNvSpPr/>
          <p:nvPr/>
        </p:nvSpPr>
        <p:spPr>
          <a:xfrm>
            <a:off x="548640" y="5472815"/>
            <a:ext cx="3337560" cy="882265"/>
          </a:xfrm>
          <a:prstGeom prst="roundRect">
            <a:avLst>
              <a:gd name="adj" fmla="val 82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5545967"/>
            <a:ext cx="2971800" cy="735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Deleted gene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Select a deletion strain; the map is coloured by the changes measured in that strain.</a:t>
            </a:r>
            <a:endParaRPr lang="en-US" sz="1500" dirty="0"/>
          </a:p>
        </p:txBody>
      </p:sp>
      <p:sp>
        <p:nvSpPr>
          <p:cNvPr id="16" name="modeCard2"/>
          <p:cNvSpPr/>
          <p:nvPr/>
        </p:nvSpPr>
        <p:spPr>
          <a:xfrm>
            <a:off x="4160520" y="5472815"/>
            <a:ext cx="3337560" cy="882265"/>
          </a:xfrm>
          <a:prstGeom prst="roundRect">
            <a:avLst>
              <a:gd name="adj" fmla="val 82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343400" y="5545967"/>
            <a:ext cx="2971800" cy="735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Changed gene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Select a gene on the map; the strains in which it changed are listed.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8321040" y="4937760"/>
            <a:ext cx="332201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mRNA: Kemmeren et al. 2014, 1,481 strains. Phosphorylation: Bodenmiller et al. 2010, 113 kinase and phosphatase strains.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5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Additional functions</a:t>
            </a:r>
            <a:endParaRPr lang="en-US" sz="2800" dirty="0"/>
          </a:p>
        </p:txBody>
      </p:sp>
      <p:sp>
        <p:nvSpPr>
          <p:cNvPr id="3" name="moreCard1"/>
          <p:cNvSpPr/>
          <p:nvPr/>
        </p:nvSpPr>
        <p:spPr>
          <a:xfrm>
            <a:off x="548640" y="1280160"/>
            <a:ext cx="3515258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548640" cy="548640"/>
          </a:xfrm>
          <a:prstGeom prst="ellipse">
            <a:avLst/>
          </a:prstGeom>
          <a:solidFill>
            <a:schemeClr val="accent1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⧉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4028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Multiple panels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Up to four maps can be compared side by side.</a:t>
            </a:r>
            <a:endParaRPr lang="en-US" sz="1700" dirty="0"/>
          </a:p>
        </p:txBody>
      </p:sp>
      <p:sp>
        <p:nvSpPr>
          <p:cNvPr id="6" name="moreCard2"/>
          <p:cNvSpPr/>
          <p:nvPr/>
        </p:nvSpPr>
        <p:spPr>
          <a:xfrm>
            <a:off x="4338218" y="1280160"/>
            <a:ext cx="3515258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12538" y="1554480"/>
            <a:ext cx="548640" cy="548640"/>
          </a:xfrm>
          <a:prstGeom prst="ellipse">
            <a:avLst/>
          </a:prstGeom>
          <a:solidFill>
            <a:schemeClr val="accent2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≡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612538" y="224028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Database tab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Genes, relations and categories in tabular form, with filtering.</a:t>
            </a:r>
            <a:endParaRPr lang="en-US" sz="1700" dirty="0"/>
          </a:p>
        </p:txBody>
      </p:sp>
      <p:sp>
        <p:nvSpPr>
          <p:cNvPr id="9" name="moreCard3"/>
          <p:cNvSpPr/>
          <p:nvPr/>
        </p:nvSpPr>
        <p:spPr>
          <a:xfrm>
            <a:off x="8127797" y="1280160"/>
            <a:ext cx="3515258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02117" y="1554480"/>
            <a:ext cx="548640" cy="548640"/>
          </a:xfrm>
          <a:prstGeom prst="ellipse">
            <a:avLst/>
          </a:prstGeom>
          <a:solidFill>
            <a:schemeClr val="accent3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↓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402117" y="224028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Export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Maps can be saved as PNG or SVG.</a:t>
            </a:r>
            <a:endParaRPr lang="en-US" sz="1700" dirty="0"/>
          </a:p>
        </p:txBody>
      </p:sp>
      <p:sp>
        <p:nvSpPr>
          <p:cNvPr id="12" name="moreCard4"/>
          <p:cNvSpPr/>
          <p:nvPr/>
        </p:nvSpPr>
        <p:spPr>
          <a:xfrm>
            <a:off x="548640" y="3703320"/>
            <a:ext cx="3515258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977640"/>
            <a:ext cx="548640" cy="548640"/>
          </a:xfrm>
          <a:prstGeom prst="ellipse">
            <a:avLst/>
          </a:prstGeom>
          <a:solidFill>
            <a:schemeClr val="accent5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‹ ›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66344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History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Previous maps and details can be revisited.</a:t>
            </a:r>
            <a:endParaRPr lang="en-US" sz="1700" dirty="0"/>
          </a:p>
        </p:txBody>
      </p:sp>
      <p:sp>
        <p:nvSpPr>
          <p:cNvPr id="15" name="moreCard5"/>
          <p:cNvSpPr/>
          <p:nvPr/>
        </p:nvSpPr>
        <p:spPr>
          <a:xfrm>
            <a:off x="4338218" y="3703320"/>
            <a:ext cx="3515258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12538" y="3977640"/>
            <a:ext cx="548640" cy="548640"/>
          </a:xfrm>
          <a:prstGeom prst="ellipse">
            <a:avLst/>
          </a:prstGeom>
          <a:solidFill>
            <a:schemeClr val="accent4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?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4612538" y="466344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Help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Each panel has a Help button; the full user guide is linked at the top right.</a:t>
            </a:r>
            <a:endParaRPr lang="en-US" sz="1700" dirty="0"/>
          </a:p>
        </p:txBody>
      </p:sp>
      <p:sp>
        <p:nvSpPr>
          <p:cNvPr id="18" name="moreCard6"/>
          <p:cNvSpPr/>
          <p:nvPr/>
        </p:nvSpPr>
        <p:spPr>
          <a:xfrm>
            <a:off x="8127797" y="3703320"/>
            <a:ext cx="3515258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02117" y="3977640"/>
            <a:ext cx="548640" cy="548640"/>
          </a:xfrm>
          <a:prstGeom prst="ellipse">
            <a:avLst/>
          </a:prstGeom>
          <a:solidFill>
            <a:schemeClr val="tx2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402117" y="466344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Language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Japanese and English are available from the Language menu.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5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thways viewer">
  <a:themeElements>
    <a:clrScheme name="Pathways viewer">
      <a:dk1>
        <a:srgbClr val="1B1F27"/>
      </a:dk1>
      <a:lt1>
        <a:srgbClr val="FFFFFF"/>
      </a:lt1>
      <a:dk2>
        <a:srgbClr val="16233B"/>
      </a:dk2>
      <a:lt2>
        <a:srgbClr val="F1F4F8"/>
      </a:lt2>
      <a:accent1>
        <a:srgbClr val="E8710A"/>
      </a:accent1>
      <a:accent2>
        <a:srgbClr val="7B3FA0"/>
      </a:accent2>
      <a:accent3>
        <a:srgbClr val="3E9A4F"/>
      </a:accent3>
      <a:accent4>
        <a:srgbClr val="E03131"/>
      </a:accent4>
      <a:accent5>
        <a:srgbClr val="2F6FB5"/>
      </a:accent5>
      <a:accent6>
        <a:srgbClr val="6B7588"/>
      </a:accent6>
      <a:hlink>
        <a:srgbClr val="2F6FB5"/>
      </a:hlink>
      <a:folHlink>
        <a:srgbClr val="7B3FA0"/>
      </a:folHlink>
    </a:clrScheme>
    <a:fontScheme name="Pathways viewer">
      <a:majorFont>
        <a:latin typeface="Calibri"/>
        <a:ea typeface="Calibri"/>
        <a:cs typeface=""/>
        <a:font script="Jpan" typeface="Calibri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Calibri"/>
        <a:cs typeface=""/>
        <a:font script="Jpan" typeface="Calibri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Pathways viewer for Saccharomyces cerevisiae</dc:title>
  <dc:subject>PptxGenJS Presentation</dc:subject>
  <dc:creator>Rai Katsukawa</dc:creator>
  <cp:lastModifiedBy>Rai Katsukawa</cp:lastModifiedBy>
  <cp:revision>1</cp:revision>
  <dcterms:created xsi:type="dcterms:W3CDTF">2026-10-15T06:40:28Z</dcterms:created>
  <dcterms:modified xsi:type="dcterms:W3CDTF">2026-10-15T06:40:28Z</dcterms:modified>
</cp:coreProperties>
</file>