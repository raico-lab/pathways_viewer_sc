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53a8471-cb1e-f9c4-ca3b-688331b30b19}">
          <p14:sldIdLst>
            <p14:sldId id="256"/>
            <p14:sldId id="257"/>
          </p14:sldIdLst>
        </p14:section>
        <p14:section name="Basics" id="{14138e74-a5a7-e91e-67ea-909f9b5f7883}">
          <p14:sldIdLst>
            <p14:sldId id="258"/>
            <p14:sldId id="259"/>
            <p14:sldId id="260"/>
            <p14:sldId id="261"/>
          </p14:sldIdLst>
        </p14:section>
        <p14:section name="Left tabs" id="{85453e00-82ab-3d02-7f4d-259da14e2240}">
          <p14:sldIdLst>
            <p14:sldId id="262"/>
            <p14:sldId id="263"/>
            <p14:sldId id="264"/>
          </p14:sldIdLst>
        </p14:section>
        <p14:section name="More" id="{bc2fa17e-bffb-a8b1-1cbd-eaeb72240732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7498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955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2E0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raico-lab.github.io/pathways_viewer_sc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raico-lab.github.io/pathways_viewer_sc/" TargetMode="External"/><Relationship Id="rId3" Type="http://schemas.openxmlformats.org/officeDocument/2006/relationships/hyperlink" Target="https://raico-lab.github.io/pathways_viewer_sc/" TargetMode="External"/><Relationship Id="rId2" Type="http://schemas.openxmlformats.org/officeDocument/2006/relationships/image" Target="../media/image-1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raico-lab.github.io/pathways_viewer_sc/" TargetMode="External"/><Relationship Id="rId2" Type="http://schemas.openxmlformats.org/officeDocument/2006/relationships/hyperlink" Target="https://github.com/Raico-lab/pathways_viewer_sc" TargetMode="External"/><Relationship Id="rId4" Type="http://schemas.openxmlformats.org/officeDocument/2006/relationships/hyperlink" Target="https://raico-lab.github.io/pathways_viewer_sc/" TargetMode="External"/><Relationship Id="rId3" Type="http://schemas.openxmlformats.org/officeDocument/2006/relationships/image" Target="../media/image-12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Pathways viewer for </a:t>
            </a:r>
            <a:pPr algn="l" indent="0" marL="0">
              <a:buNone/>
            </a:pPr>
            <a:r>
              <a:rPr lang="en-US" sz="3800" b="1" i="1" dirty="0">
                <a:solidFill>
                  <a:schemeClr val="bg1"/>
                </a:solidFill>
              </a:rPr>
              <a:t>Saccharomyces cerevisiae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2E0"/>
                </a:solidFill>
              </a:rPr>
              <a:t>A quick guide to browsing budding-yeast signaling and regulatory pathways on a map</a:t>
            </a:r>
            <a:endParaRPr lang="en-US" sz="18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548640" y="41605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raico-lab.github.io/pathways_viewer_sc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2E0"/>
                </a:solidFill>
              </a:rPr>
              <a:t>Runs in your web browser · no installation · free and open source (GPLv3)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9D2E0"/>
                </a:solidFill>
              </a:rPr>
              <a:t>The first launch takes about a minute while the data load.</a:t>
            </a:r>
            <a:endParaRPr lang="en-US" sz="1400" dirty="0"/>
          </a:p>
        </p:txBody>
      </p:sp>
      <p:sp>
        <p:nvSpPr>
          <p:cNvPr id="6" name="qrCard"/>
          <p:cNvSpPr/>
          <p:nvPr/>
        </p:nvSpPr>
        <p:spPr>
          <a:xfrm>
            <a:off x="8869680" y="20116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qrCode" descr="https://raico-lab.github.io/pathways_viewer_sc/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214884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Explore how yeast genes connect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6,613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305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genes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62,083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935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relations: phosphorylation, transcription, binding …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519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6,387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5663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relations checked against papers</a:t>
            </a:r>
            <a:endParaRPr lang="en-US" sz="1300" dirty="0"/>
          </a:p>
        </p:txBody>
      </p:sp>
      <p:sp>
        <p:nvSpPr>
          <p:cNvPr id="9" name="whatCard1"/>
          <p:cNvSpPr/>
          <p:nvPr/>
        </p:nvSpPr>
        <p:spPr>
          <a:xfrm>
            <a:off x="4572000" y="1325880"/>
            <a:ext cx="707105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num1"/>
          <p:cNvSpPr/>
          <p:nvPr/>
        </p:nvSpPr>
        <p:spPr>
          <a:xfrm>
            <a:off x="4800600" y="16002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435608"/>
            <a:ext cx="61109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Map around a gene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Draw the upstream and downstream neighbours of any gene</a:t>
            </a:r>
            <a:endParaRPr lang="en-US" sz="1700" dirty="0"/>
          </a:p>
        </p:txBody>
      </p:sp>
      <p:sp>
        <p:nvSpPr>
          <p:cNvPr id="13" name="whatCard2"/>
          <p:cNvSpPr/>
          <p:nvPr/>
        </p:nvSpPr>
        <p:spPr>
          <a:xfrm>
            <a:off x="4572000" y="2423160"/>
            <a:ext cx="707105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um2"/>
          <p:cNvSpPr/>
          <p:nvPr/>
        </p:nvSpPr>
        <p:spPr>
          <a:xfrm>
            <a:off x="4800600" y="2697480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532888"/>
            <a:ext cx="61109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Trace connections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the paths that link two or more genes</a:t>
            </a:r>
            <a:endParaRPr lang="en-US" sz="1700" dirty="0"/>
          </a:p>
        </p:txBody>
      </p:sp>
      <p:sp>
        <p:nvSpPr>
          <p:cNvPr id="17" name="whatCard3"/>
          <p:cNvSpPr/>
          <p:nvPr/>
        </p:nvSpPr>
        <p:spPr>
          <a:xfrm>
            <a:off x="4572000" y="3520440"/>
            <a:ext cx="707105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num3"/>
          <p:cNvSpPr/>
          <p:nvPr/>
        </p:nvSpPr>
        <p:spPr>
          <a:xfrm>
            <a:off x="4800600" y="3794760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006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630168"/>
            <a:ext cx="61109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Filter by condition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Keep paths reported under stress, nutrients, cell-cycle phase …</a:t>
            </a:r>
            <a:endParaRPr lang="en-US" sz="1700" dirty="0"/>
          </a:p>
        </p:txBody>
      </p:sp>
      <p:sp>
        <p:nvSpPr>
          <p:cNvPr id="21" name="whatCard4"/>
          <p:cNvSpPr/>
          <p:nvPr/>
        </p:nvSpPr>
        <p:spPr>
          <a:xfrm>
            <a:off x="4572000" y="4617720"/>
            <a:ext cx="7071055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num4"/>
          <p:cNvSpPr/>
          <p:nvPr/>
        </p:nvSpPr>
        <p:spPr>
          <a:xfrm>
            <a:off x="4800600" y="4892040"/>
            <a:ext cx="365760" cy="365760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0060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4727448"/>
            <a:ext cx="61109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Overlay measurements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Colour the map by deletion-strain or condition data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screen at a glance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01_wind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Left tabs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Genes, TFs, Paths, Conditions, Deletions, Saved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3225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04288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Search and settings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Find a gene; layout, line colours, number of steps</a:t>
            </a:r>
            <a:endParaRPr lang="en-US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334670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328416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Map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Genes (boxes) and the relations between them</a:t>
            </a:r>
            <a:endParaRPr lang="en-US" sz="1600" dirty="0"/>
          </a:p>
        </p:txBody>
      </p:sp>
      <p:sp>
        <p:nvSpPr>
          <p:cNvPr id="14" name="num4"/>
          <p:cNvSpPr/>
          <p:nvPr/>
        </p:nvSpPr>
        <p:spPr>
          <a:xfrm>
            <a:off x="8321040" y="437083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4370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4352544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Legend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Meaning of colours and symbols; untick to hide a type</a:t>
            </a:r>
            <a:endParaRPr lang="en-US" sz="1600" dirty="0"/>
          </a:p>
        </p:txBody>
      </p:sp>
      <p:sp>
        <p:nvSpPr>
          <p:cNvPr id="17" name="num5"/>
          <p:cNvSpPr/>
          <p:nvPr/>
        </p:nvSpPr>
        <p:spPr>
          <a:xfrm>
            <a:off x="8321040" y="5394960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21040" y="5394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778240" y="5376672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Details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Description, evidence and papers for what you click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Step 1 — Put a gene on the map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02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364328" cy="313046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Type a gene name and choose Focus</a:t>
            </a:r>
            <a:endParaRPr lang="en-US" sz="1200" dirty="0"/>
          </a:p>
        </p:txBody>
      </p:sp>
      <p:sp>
        <p:nvSpPr>
          <p:cNvPr id="6" name="screenFrame"/>
          <p:cNvSpPr/>
          <p:nvPr/>
        </p:nvSpPr>
        <p:spPr>
          <a:xfrm>
            <a:off x="6260440" y="1216152"/>
            <a:ext cx="5400904" cy="3167044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screenshot" descr="/private/tmp/claude-501/-Users-rai-----Pathways/6ffe623f-58ac-4054-a933-66d23c8d1ff6/scratchpad/deck/img/en/03_foc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728" y="1234440"/>
            <a:ext cx="5364328" cy="31304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78728" y="4456348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The map is redrawn around that gene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892040"/>
            <a:ext cx="11094415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Type a gene name in the search box ① — standard or systematic (SCH9 / YHR205W)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Click Focus ② — the gene is shown with a thick orange frame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Up / Down ② set how many steps to follow; start with 1–2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Step 2 — Read the map</a:t>
            </a:r>
            <a:endParaRPr lang="en-US" sz="2800" dirty="0"/>
          </a:p>
        </p:txBody>
      </p:sp>
      <p:sp>
        <p:nvSpPr>
          <p:cNvPr id="3" name="readCard1"/>
          <p:cNvSpPr/>
          <p:nvPr/>
        </p:nvSpPr>
        <p:spPr>
          <a:xfrm>
            <a:off x="548640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Line ending = effect</a:t>
            </a:r>
            <a:endParaRPr lang="en-US" sz="1800" dirty="0"/>
          </a:p>
        </p:txBody>
      </p:sp>
      <p:sp>
        <p:nvSpPr>
          <p:cNvPr id="5" name="readCard2"/>
          <p:cNvSpPr/>
          <p:nvPr/>
        </p:nvSpPr>
        <p:spPr>
          <a:xfrm>
            <a:off x="4338218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12538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Line colour = type</a:t>
            </a:r>
            <a:endParaRPr lang="en-US" sz="1800" dirty="0"/>
          </a:p>
        </p:txBody>
      </p:sp>
      <p:sp>
        <p:nvSpPr>
          <p:cNvPr id="7" name="readCard3"/>
          <p:cNvSpPr/>
          <p:nvPr/>
        </p:nvSpPr>
        <p:spPr>
          <a:xfrm>
            <a:off x="8127797" y="1280160"/>
            <a:ext cx="3515258" cy="4343400"/>
          </a:xfrm>
          <a:prstGeom prst="roundRect">
            <a:avLst>
              <a:gd name="adj" fmla="val 260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02117" y="150876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Boxes and frames</a:t>
            </a:r>
            <a:endParaRPr lang="en-US" sz="1800" dirty="0"/>
          </a:p>
        </p:txBody>
      </p:sp>
      <p:sp>
        <p:nvSpPr>
          <p:cNvPr id="9" name="arrow1"/>
          <p:cNvSpPr/>
          <p:nvPr/>
        </p:nvSpPr>
        <p:spPr>
          <a:xfrm>
            <a:off x="822960" y="233172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331720" y="205740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Activation</a:t>
            </a:r>
            <a:endParaRPr lang="en-US" sz="1400" dirty="0"/>
          </a:p>
        </p:txBody>
      </p:sp>
      <p:sp>
        <p:nvSpPr>
          <p:cNvPr id="11" name="arrow2"/>
          <p:cNvSpPr/>
          <p:nvPr/>
        </p:nvSpPr>
        <p:spPr>
          <a:xfrm>
            <a:off x="822960" y="310896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</a:ln>
        </p:spPr>
      </p:sp>
      <p:sp>
        <p:nvSpPr>
          <p:cNvPr id="12" name="tbar"/>
          <p:cNvSpPr/>
          <p:nvPr/>
        </p:nvSpPr>
        <p:spPr>
          <a:xfrm>
            <a:off x="2011680" y="2990088"/>
            <a:ext cx="0" cy="237744"/>
          </a:xfrm>
          <a:prstGeom prst="line">
            <a:avLst/>
          </a:prstGeom>
          <a:noFill/>
          <a:ln w="38100">
            <a:solidFill>
              <a:srgbClr val="5F6B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31720" y="283464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Inhibition</a:t>
            </a:r>
            <a:endParaRPr lang="en-US" sz="1400" dirty="0"/>
          </a:p>
        </p:txBody>
      </p:sp>
      <p:sp>
        <p:nvSpPr>
          <p:cNvPr id="14" name="arrow3"/>
          <p:cNvSpPr/>
          <p:nvPr/>
        </p:nvSpPr>
        <p:spPr>
          <a:xfrm>
            <a:off x="822960" y="388620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olid"/>
          </a:ln>
        </p:spPr>
      </p:sp>
      <p:sp>
        <p:nvSpPr>
          <p:cNvPr id="15" name="diamond"/>
          <p:cNvSpPr/>
          <p:nvPr/>
        </p:nvSpPr>
        <p:spPr>
          <a:xfrm>
            <a:off x="1993392" y="3794760"/>
            <a:ext cx="182880" cy="18288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5F6B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31720" y="361188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Unknown effect (could be either)</a:t>
            </a:r>
            <a:endParaRPr lang="en-US" sz="1400" dirty="0"/>
          </a:p>
        </p:txBody>
      </p:sp>
      <p:sp>
        <p:nvSpPr>
          <p:cNvPr id="17" name="arrow4"/>
          <p:cNvSpPr/>
          <p:nvPr/>
        </p:nvSpPr>
        <p:spPr>
          <a:xfrm>
            <a:off x="822960" y="4663440"/>
            <a:ext cx="1188720" cy="0"/>
          </a:xfrm>
          <a:prstGeom prst="line">
            <a:avLst/>
          </a:prstGeom>
          <a:noFill/>
          <a:ln w="31750">
            <a:solidFill>
              <a:srgbClr val="5F6B73"/>
            </a:solidFill>
            <a:prstDash val="sysDot"/>
          </a:ln>
        </p:spPr>
      </p:sp>
      <p:sp>
        <p:nvSpPr>
          <p:cNvPr id="18" name="Text 16"/>
          <p:cNvSpPr txBox="1"/>
          <p:nvPr/>
        </p:nvSpPr>
        <p:spPr>
          <a:xfrm>
            <a:off x="2331720" y="4389120"/>
            <a:ext cx="1457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Binding (no direction)</a:t>
            </a:r>
            <a:endParaRPr lang="en-US" sz="1400" dirty="0"/>
          </a:p>
        </p:txBody>
      </p:sp>
      <p:sp>
        <p:nvSpPr>
          <p:cNvPr id="19" name="type1"/>
          <p:cNvSpPr/>
          <p:nvPr/>
        </p:nvSpPr>
        <p:spPr>
          <a:xfrm>
            <a:off x="4612538" y="2331720"/>
            <a:ext cx="685800" cy="0"/>
          </a:xfrm>
          <a:prstGeom prst="line">
            <a:avLst/>
          </a:prstGeom>
          <a:noFill/>
          <a:ln w="44450">
            <a:solidFill>
              <a:srgbClr val="F07F1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89778" y="219456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938418" y="207568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Phosphorylation</a:t>
            </a:r>
            <a:endParaRPr lang="en-US" sz="1400" dirty="0"/>
          </a:p>
        </p:txBody>
      </p:sp>
      <p:sp>
        <p:nvSpPr>
          <p:cNvPr id="22" name="type2"/>
          <p:cNvSpPr/>
          <p:nvPr/>
        </p:nvSpPr>
        <p:spPr>
          <a:xfrm>
            <a:off x="4612538" y="2971800"/>
            <a:ext cx="685800" cy="0"/>
          </a:xfrm>
          <a:prstGeom prst="line">
            <a:avLst/>
          </a:prstGeom>
          <a:noFill/>
          <a:ln w="44450">
            <a:solidFill>
              <a:srgbClr val="7B2FA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89778" y="283464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-P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938418" y="271576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Dephosphorylation</a:t>
            </a:r>
            <a:endParaRPr lang="en-US" sz="1400" dirty="0"/>
          </a:p>
        </p:txBody>
      </p:sp>
      <p:sp>
        <p:nvSpPr>
          <p:cNvPr id="25" name="type3"/>
          <p:cNvSpPr/>
          <p:nvPr/>
        </p:nvSpPr>
        <p:spPr>
          <a:xfrm>
            <a:off x="4612538" y="3611880"/>
            <a:ext cx="685800" cy="0"/>
          </a:xfrm>
          <a:prstGeom prst="line">
            <a:avLst/>
          </a:prstGeom>
          <a:noFill/>
          <a:ln w="44450">
            <a:solidFill>
              <a:srgbClr val="2F6F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89778" y="347472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938418" y="335584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Transcriptional regulation</a:t>
            </a:r>
            <a:endParaRPr lang="en-US" sz="1400" dirty="0"/>
          </a:p>
        </p:txBody>
      </p:sp>
      <p:sp>
        <p:nvSpPr>
          <p:cNvPr id="28" name="type4"/>
          <p:cNvSpPr/>
          <p:nvPr/>
        </p:nvSpPr>
        <p:spPr>
          <a:xfrm>
            <a:off x="4612538" y="4251960"/>
            <a:ext cx="685800" cy="0"/>
          </a:xfrm>
          <a:prstGeom prst="line">
            <a:avLst/>
          </a:prstGeom>
          <a:noFill/>
          <a:ln w="44450">
            <a:solidFill>
              <a:srgbClr val="5F6B7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89778" y="4114800"/>
            <a:ext cx="41148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AB2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—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938418" y="3995928"/>
            <a:ext cx="164073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Unknown mechanism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612538" y="48920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Set “Paths” to Effect to colour lines red (activation) / blue (inhibition)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402117" y="2148840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7DC383"/>
          </a:solidFill>
          <a:ln w="31750">
            <a:solidFill>
              <a:srgbClr val="E8710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SCH9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453677" y="20574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Focused gene (orange frame)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8402117" y="27980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7DC383"/>
          </a:solidFill>
          <a:ln w="12700">
            <a:solidFill>
              <a:srgbClr val="4F8F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SNF1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+138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9453677" y="27432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+N: downstream genes not yet drawn</a:t>
            </a:r>
            <a:endParaRPr lang="en-US" sz="1400" dirty="0"/>
          </a:p>
        </p:txBody>
      </p:sp>
      <p:sp>
        <p:nvSpPr>
          <p:cNvPr id="36" name="complexFrame"/>
          <p:cNvSpPr/>
          <p:nvPr/>
        </p:nvSpPr>
        <p:spPr>
          <a:xfrm>
            <a:off x="8402117" y="34838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FBF6DC"/>
          </a:solidFill>
          <a:ln w="19050">
            <a:solidFill>
              <a:srgbClr val="B9A93A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9453677" y="34290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Dotted frame: protein complex</a:t>
            </a:r>
            <a:endParaRPr lang="en-US" sz="1400" dirty="0"/>
          </a:p>
        </p:txBody>
      </p:sp>
      <p:sp>
        <p:nvSpPr>
          <p:cNvPr id="38" name="paralogOuter"/>
          <p:cNvSpPr/>
          <p:nvPr/>
        </p:nvSpPr>
        <p:spPr>
          <a:xfrm>
            <a:off x="8402117" y="4169664"/>
            <a:ext cx="868680" cy="438912"/>
          </a:xfrm>
          <a:prstGeom prst="roundRect">
            <a:avLst>
              <a:gd name="adj" fmla="val 12500"/>
            </a:avLst>
          </a:prstGeom>
          <a:solidFill>
            <a:srgbClr val="EFE6F6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39" name="paralogInner"/>
          <p:cNvSpPr/>
          <p:nvPr/>
        </p:nvSpPr>
        <p:spPr>
          <a:xfrm>
            <a:off x="8447837" y="4215384"/>
            <a:ext cx="777240" cy="347472"/>
          </a:xfrm>
          <a:prstGeom prst="roundRect">
            <a:avLst>
              <a:gd name="adj" fmla="val 13158"/>
            </a:avLst>
          </a:prstGeom>
          <a:solidFill>
            <a:srgbClr val="EFE6F6"/>
          </a:solidFill>
          <a:ln w="12700">
            <a:solidFill>
              <a:srgbClr val="7B3FA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53677" y="4114800"/>
            <a:ext cx="1915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Double frame: paralog pair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8402117" y="4892040"/>
            <a:ext cx="2966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Upstream genes are placed higher; box colour shows the gene’s role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Step 3 — Click for details and evidence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07_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Click a gene or a line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Click a selected gene again to Expand (add its neighbours) or Focus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56946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551176"/>
            <a:ext cx="286481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Read the evidence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Type, effect, confidence (A literature-verified … D inferred), conditions, PubMed links, and links to SGD / YEASTRACT+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Paths tab — how do two genes connect?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09_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Choose what to list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e.g. All paths, with the number of steps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3225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04288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Tick the genes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Focused and expanded genes are listed here</a:t>
            </a:r>
            <a:endParaRPr lang="en-US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334670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328416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Pick a path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It is drawn and highlighted on the map</a:t>
            </a:r>
            <a:endParaRPr lang="en-US" sz="1600" dirty="0"/>
          </a:p>
        </p:txBody>
      </p:sp>
      <p:sp>
        <p:nvSpPr>
          <p:cNvPr id="14" name="num4"/>
          <p:cNvSpPr/>
          <p:nvPr/>
        </p:nvSpPr>
        <p:spPr>
          <a:xfrm>
            <a:off x="8321040" y="4370832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21040" y="4370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4352544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See each step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relation in the path, with its confidence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Conditions tab — paths under specific conditions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10_condi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Tick conditions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“Clear all”, then tick e.g. Heat shock and Drug / chemical stress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56946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569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551176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Matching paths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Only those paths stay on the map; click one for its evidence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721335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Switch to “Genes” to highlight genes whose mRNA or phosphorylation changes ≥ 2-fold under the chosen conditions.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Deletions tab — what changes when a gene is deleted?</a:t>
            </a:r>
            <a:endParaRPr lang="en-US" sz="2800" dirty="0"/>
          </a:p>
        </p:txBody>
      </p:sp>
      <p:sp>
        <p:nvSpPr>
          <p:cNvPr id="3" name="screenFrame"/>
          <p:cNvSpPr/>
          <p:nvPr/>
        </p:nvSpPr>
        <p:spPr>
          <a:xfrm>
            <a:off x="530352" y="1216152"/>
            <a:ext cx="7443216" cy="4358879"/>
          </a:xfrm>
          <a:prstGeom prst="rect">
            <a:avLst/>
          </a:prstGeom>
          <a:solidFill>
            <a:srgbClr val="FFFFFF"/>
          </a:solidFill>
          <a:ln w="12700">
            <a:solidFill>
              <a:srgbClr val="C9C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4" name="screenshot" descr="/private/tmp/claude-501/-Users-rai-----Pathways/6ffe623f-58ac-4054-a933-66d23c8d1ff6/scratchpad/deck/img/en/11_dele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406640" cy="4322303"/>
          </a:xfrm>
          <a:prstGeom prst="rect">
            <a:avLst/>
          </a:prstGeom>
        </p:spPr>
      </p:pic>
      <p:sp>
        <p:nvSpPr>
          <p:cNvPr id="5" name="num1"/>
          <p:cNvSpPr/>
          <p:nvPr/>
        </p:nvSpPr>
        <p:spPr>
          <a:xfrm>
            <a:off x="8321040" y="1298448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298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1280160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Find the strain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Choose “Deleted gene” and type its name (e.g. XRN1)</a:t>
            </a:r>
            <a:endParaRPr lang="en-US" sz="1600" dirty="0"/>
          </a:p>
        </p:txBody>
      </p:sp>
      <p:sp>
        <p:nvSpPr>
          <p:cNvPr id="8" name="num2"/>
          <p:cNvSpPr/>
          <p:nvPr/>
        </p:nvSpPr>
        <p:spPr>
          <a:xfrm>
            <a:off x="8321040" y="2322576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304288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Click the strain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Map colours: red = up, blue = down</a:t>
            </a:r>
            <a:endParaRPr lang="en-US" sz="1600" dirty="0"/>
          </a:p>
        </p:txBody>
      </p:sp>
      <p:sp>
        <p:nvSpPr>
          <p:cNvPr id="11" name="num3"/>
          <p:cNvSpPr/>
          <p:nvPr/>
        </p:nvSpPr>
        <p:spPr>
          <a:xfrm>
            <a:off x="8321040" y="3346704"/>
            <a:ext cx="329184" cy="329184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3346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778240" y="3328416"/>
            <a:ext cx="28648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Changed genes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Genes on the current map that changed in that strain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721335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mRNA: Deleteome (Kemmeren 2014, 1,481 strains). Phosphorylation: Bodenmiller 2010 (113 kinase / phosphatase strains).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More you can do</a:t>
            </a:r>
            <a:endParaRPr lang="en-US" sz="2800" dirty="0"/>
          </a:p>
        </p:txBody>
      </p:sp>
      <p:sp>
        <p:nvSpPr>
          <p:cNvPr id="3" name="moreCard1"/>
          <p:cNvSpPr/>
          <p:nvPr/>
        </p:nvSpPr>
        <p:spPr>
          <a:xfrm>
            <a:off x="548640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⧉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Several panels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Open up to 4 maps side by side with “New panel”</a:t>
            </a:r>
            <a:endParaRPr lang="en-US" sz="1700" dirty="0"/>
          </a:p>
        </p:txBody>
      </p:sp>
      <p:sp>
        <p:nvSpPr>
          <p:cNvPr id="6" name="moreCard2"/>
          <p:cNvSpPr/>
          <p:nvPr/>
        </p:nvSpPr>
        <p:spPr>
          <a:xfrm>
            <a:off x="4338218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2538" y="1554480"/>
            <a:ext cx="548640" cy="548640"/>
          </a:xfrm>
          <a:prstGeom prst="ellipse">
            <a:avLst/>
          </a:prstGeom>
          <a:solidFill>
            <a:schemeClr val="accent2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★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Saved views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Name and recall a map in the Saved tab (kept in your browser)</a:t>
            </a:r>
            <a:endParaRPr lang="en-US" sz="1700" dirty="0"/>
          </a:p>
        </p:txBody>
      </p:sp>
      <p:sp>
        <p:nvSpPr>
          <p:cNvPr id="9" name="moreCard3"/>
          <p:cNvSpPr/>
          <p:nvPr/>
        </p:nvSpPr>
        <p:spPr>
          <a:xfrm>
            <a:off x="8127797" y="128016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2117" y="1554480"/>
            <a:ext cx="548640" cy="548640"/>
          </a:xfrm>
          <a:prstGeom prst="ellipse">
            <a:avLst/>
          </a:prstGeom>
          <a:solidFill>
            <a:schemeClr val="accent3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↓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224028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PNG / SVG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Save the whole map as an image</a:t>
            </a:r>
            <a:endParaRPr lang="en-US" sz="1700" dirty="0"/>
          </a:p>
        </p:txBody>
      </p:sp>
      <p:sp>
        <p:nvSpPr>
          <p:cNvPr id="12" name="moreCard4"/>
          <p:cNvSpPr/>
          <p:nvPr/>
        </p:nvSpPr>
        <p:spPr>
          <a:xfrm>
            <a:off x="548640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chemeClr val="accent5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‹ ›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Back / forward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Return to the previous map or details</a:t>
            </a:r>
            <a:endParaRPr lang="en-US" sz="1700" dirty="0"/>
          </a:p>
        </p:txBody>
      </p:sp>
      <p:sp>
        <p:nvSpPr>
          <p:cNvPr id="15" name="moreCard5"/>
          <p:cNvSpPr/>
          <p:nvPr/>
        </p:nvSpPr>
        <p:spPr>
          <a:xfrm>
            <a:off x="4338218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12538" y="3977640"/>
            <a:ext cx="548640" cy="548640"/>
          </a:xfrm>
          <a:prstGeom prst="ellipse">
            <a:avLst/>
          </a:prstGeom>
          <a:solidFill>
            <a:schemeClr val="accent4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?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612538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Help everywhere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Every panel has a Help button; full User guide at top right</a:t>
            </a:r>
            <a:endParaRPr lang="en-US" sz="1700" dirty="0"/>
          </a:p>
        </p:txBody>
      </p:sp>
      <p:sp>
        <p:nvSpPr>
          <p:cNvPr id="18" name="moreCard6"/>
          <p:cNvSpPr/>
          <p:nvPr/>
        </p:nvSpPr>
        <p:spPr>
          <a:xfrm>
            <a:off x="8127797" y="3703320"/>
            <a:ext cx="3515258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402117" y="3977640"/>
            <a:ext cx="548640" cy="548640"/>
          </a:xfrm>
          <a:prstGeom prst="ellipse">
            <a:avLst/>
          </a:prstGeom>
          <a:solidFill>
            <a:schemeClr val="tx2"/>
          </a:solidFill>
          <a:ln w="63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02117" y="4663440"/>
            <a:ext cx="296661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日本語 / English</a:t>
            </a:r>
            <a:endParaRPr lang="en-US" sz="17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Switch the language from the 言語 / Language menu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the data come from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Public databases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SGD · BioGRID · YEASTRACT+ · GO-CAM · UniProt · Complex Portal · Alliance (retrieved Sep–Oct 2026, refreshed regularly)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Literature curation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Key relations checked against 4,718 papers; each relation shows its PMIDs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Measurements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Expression (SGD SPELL), phosphorylation (Leutert 2023), deletion strains</a:t>
            </a:r>
            <a:endParaRPr lang="en-US" sz="1600" dirty="0"/>
          </a:p>
        </p:txBody>
      </p:sp>
      <p:sp>
        <p:nvSpPr>
          <p:cNvPr id="6" name="noteCard"/>
          <p:cNvSpPr/>
          <p:nvPr/>
        </p:nvSpPr>
        <p:spPr>
          <a:xfrm>
            <a:off x="7086600" y="1280160"/>
            <a:ext cx="4556455" cy="3794760"/>
          </a:xfrm>
          <a:prstGeom prst="roundRect">
            <a:avLst>
              <a:gd name="adj" fmla="val 2410"/>
            </a:avLst>
          </a:prstGeom>
          <a:solidFill>
            <a:srgbClr val="FDF1E6"/>
          </a:solidFill>
          <a:ln w="12700">
            <a:solidFill>
              <a:srgbClr val="FDF1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06640" y="1508760"/>
            <a:ext cx="39163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Please note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057400"/>
            <a:ext cx="391637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“Unknown effect” means the relation could be activating or inhibiting.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Bundled data stay under each source’s terms; please cite the original sources (listed in the Sources tab).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map is a guide to the literature, not a substitute for checking the original papers.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5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Try it now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2E0"/>
                </a:solidFill>
              </a:rPr>
              <a:t>Open the link in a desktop browser (Chrome, Edge, Safari, Firefox).</a:t>
            </a:r>
            <a:endParaRPr lang="en-US" sz="1800" dirty="0"/>
          </a:p>
        </p:txBody>
      </p:sp>
      <p:sp>
        <p:nvSpPr>
          <p:cNvPr id="4" name="Text 2">
            <a:hlinkClick r:id="rId1" tooltip=""/>
          </p:cNvPr>
          <p:cNvSpPr txBox="1"/>
          <p:nvPr/>
        </p:nvSpPr>
        <p:spPr>
          <a:xfrm>
            <a:off x="548640" y="40690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u="sng" dirty="0">
                <a:solidFill>
                  <a:schemeClr val="accent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https://raico-lab.github.io/pathways_viewer_sc/</a:t>
            </a:r>
            <a:endParaRPr lang="en-US" sz="2200" dirty="0"/>
          </a:p>
        </p:txBody>
      </p:sp>
      <p:sp>
        <p:nvSpPr>
          <p:cNvPr id="5" name="Text 3">
            <a:hlinkClick r:id="rId2" tooltip=""/>
          </p:cNvPr>
          <p:cNvSpPr txBox="1"/>
          <p:nvPr/>
        </p:nvSpPr>
        <p:spPr>
          <a:xfrm>
            <a:off x="548640" y="4709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C9D2E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code: github.com/Raico-lab/pathways_viewer_sc</a:t>
            </a:r>
            <a:endParaRPr lang="en-US" sz="1400" dirty="0"/>
          </a:p>
        </p:txBody>
      </p:sp>
      <p:sp>
        <p:nvSpPr>
          <p:cNvPr id="6" name="qrCard"/>
          <p:cNvSpPr/>
          <p:nvPr/>
        </p:nvSpPr>
        <p:spPr>
          <a:xfrm>
            <a:off x="8869680" y="20116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qrCode" descr="https://raico-lab.github.io/pathways_viewer_sc/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2148840"/>
            <a:ext cx="2377440" cy="2377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thways viewer">
  <a:themeElements>
    <a:clrScheme name="Pathways viewer">
      <a:dk1>
        <a:srgbClr val="1B1F27"/>
      </a:dk1>
      <a:lt1>
        <a:srgbClr val="FFFFFF"/>
      </a:lt1>
      <a:dk2>
        <a:srgbClr val="16233B"/>
      </a:dk2>
      <a:lt2>
        <a:srgbClr val="F1F4F8"/>
      </a:lt2>
      <a:accent1>
        <a:srgbClr val="E8710A"/>
      </a:accent1>
      <a:accent2>
        <a:srgbClr val="7B3FA0"/>
      </a:accent2>
      <a:accent3>
        <a:srgbClr val="3E9A4F"/>
      </a:accent3>
      <a:accent4>
        <a:srgbClr val="E03131"/>
      </a:accent4>
      <a:accent5>
        <a:srgbClr val="2F6FB5"/>
      </a:accent5>
      <a:accent6>
        <a:srgbClr val="6B7588"/>
      </a:accent6>
      <a:hlink>
        <a:srgbClr val="2F6FB5"/>
      </a:hlink>
      <a:folHlink>
        <a:srgbClr val="7B3FA0"/>
      </a:folHlink>
    </a:clrScheme>
    <a:fontScheme name="Pathways viewer">
      <a:majorFont>
        <a:latin typeface="Calibri"/>
        <a:ea typeface="Calibri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Pathways viewer for Saccharomyces cerevisiae</dc:title>
  <dc:subject>PptxGenJS Presentation</dc:subject>
  <dc:creator>Rai Katsukawa</dc:creator>
  <cp:lastModifiedBy>Rai Katsukawa</cp:lastModifiedBy>
  <cp:revision>1</cp:revision>
  <dcterms:created xsi:type="dcterms:W3CDTF">2026-10-15T05:15:45Z</dcterms:created>
  <dcterms:modified xsi:type="dcterms:W3CDTF">2026-10-15T05:15:45Z</dcterms:modified>
</cp:coreProperties>
</file>