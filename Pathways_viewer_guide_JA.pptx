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はじめに" id="{4579abeb-1ab2-1ced-733e-5f15760da87b}">
          <p14:sldIdLst>
            <p14:sldId id="256"/>
            <p14:sldId id="257"/>
          </p14:sldIdLst>
        </p14:section>
        <p14:section name="基本の操作" id="{15bce7f4-81a8-08b2-f1f8-5c94b014ef8d}">
          <p14:sldIdLst>
            <p14:sldId id="258"/>
            <p14:sldId id="259"/>
            <p14:sldId id="260"/>
            <p14:sldId id="261"/>
          </p14:sldIdLst>
        </p14:section>
        <p14:section name="左側のタブ" id="{a3827963-ae52-0c0c-4369-6a3b0588adb5}">
          <p14:sldIdLst>
            <p14:sldId id="262"/>
            <p14:sldId id="263"/>
            <p14:sldId id="264"/>
          </p14:sldIdLst>
        </p14:section>
        <p14:section name="そのほか" id="{d4ed2d3d-4bbe-22b4-b737-b2a3a54c97a4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74980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79552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2E0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raico-lab.github.io/pathways_viewer_sc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5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5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raico-lab.github.io/pathways_viewer_sc/" TargetMode="External"/><Relationship Id="rId3" Type="http://schemas.openxmlformats.org/officeDocument/2006/relationships/hyperlink" Target="https://raico-lab.github.io/pathways_viewer_sc/" TargetMode="External"/><Relationship Id="rId2" Type="http://schemas.openxmlformats.org/officeDocument/2006/relationships/image" Target="../media/image-1-1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raico-lab.github.io/pathways_viewer_sc/" TargetMode="External"/><Relationship Id="rId2" Type="http://schemas.openxmlformats.org/officeDocument/2006/relationships/hyperlink" Target="https://github.com/Raico-lab/pathways_viewer_sc" TargetMode="External"/><Relationship Id="rId4" Type="http://schemas.openxmlformats.org/officeDocument/2006/relationships/hyperlink" Target="https://raico-lab.github.io/pathways_viewer_sc/" TargetMode="External"/><Relationship Id="rId3" Type="http://schemas.openxmlformats.org/officeDocument/2006/relationships/image" Target="../media/image-12-1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Pathways viewer for </a:t>
            </a:r>
            <a:pPr algn="l" indent="0" marL="0">
              <a:buNone/>
            </a:pPr>
            <a:r>
              <a:rPr lang="en-US" sz="3800" b="1" i="1" dirty="0">
                <a:solidFill>
                  <a:schemeClr val="bg1"/>
                </a:solidFill>
              </a:rPr>
              <a:t>Saccharomyces cerevisiae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2E0"/>
                </a:solidFill>
              </a:rPr>
              <a:t>出芽酵母の経路を地図で見るツールの使い方</a:t>
            </a:r>
            <a:endParaRPr lang="en-US" sz="1800" dirty="0"/>
          </a:p>
        </p:txBody>
      </p:sp>
      <p:sp>
        <p:nvSpPr>
          <p:cNvPr id="4" name="Text 2">
            <a:hlinkClick r:id="rId1" tooltip=""/>
          </p:cNvPr>
          <p:cNvSpPr txBox="1"/>
          <p:nvPr/>
        </p:nvSpPr>
        <p:spPr>
          <a:xfrm>
            <a:off x="548640" y="41605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u="sng" dirty="0">
                <a:solidFill>
                  <a:schemeClr val="accent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raico-lab.github.io/pathways_viewer_sc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9D2E0"/>
                </a:solidFill>
              </a:rPr>
              <a:t>ブラウザで動く・インストール不要・無料・オープンソース（GPLv3）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9D2E0"/>
                </a:solidFill>
              </a:rPr>
              <a:t>初回はデータの読み込みに 1 分ほどかかります。</a:t>
            </a:r>
            <a:endParaRPr lang="en-US" sz="1400" dirty="0"/>
          </a:p>
        </p:txBody>
      </p:sp>
      <p:sp>
        <p:nvSpPr>
          <p:cNvPr id="6" name="qrCard"/>
          <p:cNvSpPr/>
          <p:nvPr/>
        </p:nvSpPr>
        <p:spPr>
          <a:xfrm>
            <a:off x="8869680" y="2011680"/>
            <a:ext cx="265176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qrCode" descr="https://raico-lab.github.io/pathways_viewer_sc/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2148840"/>
            <a:ext cx="237744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酵母の遺伝子のつながりを地図で調べる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6,613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305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遺伝子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889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62,083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9359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関係（リン酸化・転写制御・結合など）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519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</a:rPr>
              <a:t>6,387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05663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論文で確かめた関係</a:t>
            </a:r>
            <a:endParaRPr lang="en-US" sz="1300" dirty="0"/>
          </a:p>
        </p:txBody>
      </p:sp>
      <p:sp>
        <p:nvSpPr>
          <p:cNvPr id="9" name="whatCard1"/>
          <p:cNvSpPr/>
          <p:nvPr/>
        </p:nvSpPr>
        <p:spPr>
          <a:xfrm>
            <a:off x="4572000" y="1325880"/>
            <a:ext cx="7071055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num1"/>
          <p:cNvSpPr/>
          <p:nvPr/>
        </p:nvSpPr>
        <p:spPr>
          <a:xfrm>
            <a:off x="4800600" y="16002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1435608"/>
            <a:ext cx="611093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遺伝子の周りを地図に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ある遺伝子の上流・下流を描く</a:t>
            </a:r>
            <a:endParaRPr lang="en-US" sz="1700" dirty="0"/>
          </a:p>
        </p:txBody>
      </p:sp>
      <p:sp>
        <p:nvSpPr>
          <p:cNvPr id="13" name="whatCard2"/>
          <p:cNvSpPr/>
          <p:nvPr/>
        </p:nvSpPr>
        <p:spPr>
          <a:xfrm>
            <a:off x="4572000" y="2423160"/>
            <a:ext cx="7071055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um2"/>
          <p:cNvSpPr/>
          <p:nvPr/>
        </p:nvSpPr>
        <p:spPr>
          <a:xfrm>
            <a:off x="4800600" y="2697480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349240" y="2532888"/>
            <a:ext cx="611093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つながりをたどる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 つ以上の遺伝子を結ぶ経路を一覧にする</a:t>
            </a:r>
            <a:endParaRPr lang="en-US" sz="1700" dirty="0"/>
          </a:p>
        </p:txBody>
      </p:sp>
      <p:sp>
        <p:nvSpPr>
          <p:cNvPr id="17" name="whatCard3"/>
          <p:cNvSpPr/>
          <p:nvPr/>
        </p:nvSpPr>
        <p:spPr>
          <a:xfrm>
            <a:off x="4572000" y="3520440"/>
            <a:ext cx="7071055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num3"/>
          <p:cNvSpPr/>
          <p:nvPr/>
        </p:nvSpPr>
        <p:spPr>
          <a:xfrm>
            <a:off x="4800600" y="379476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0060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3630168"/>
            <a:ext cx="611093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条件で絞る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ストレス・栄養・細胞周期の時期などで報告された経路だけを残す</a:t>
            </a:r>
            <a:endParaRPr lang="en-US" sz="1700" dirty="0"/>
          </a:p>
        </p:txBody>
      </p:sp>
      <p:sp>
        <p:nvSpPr>
          <p:cNvPr id="21" name="whatCard4"/>
          <p:cNvSpPr/>
          <p:nvPr/>
        </p:nvSpPr>
        <p:spPr>
          <a:xfrm>
            <a:off x="4572000" y="4617720"/>
            <a:ext cx="7071055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num4"/>
          <p:cNvSpPr/>
          <p:nvPr/>
        </p:nvSpPr>
        <p:spPr>
          <a:xfrm>
            <a:off x="4800600" y="489204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0060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349240" y="4727448"/>
            <a:ext cx="611093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実測を重ねる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破壊株や条件ごとの変化で地図を色分けする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5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画面の見取り図</a:t>
            </a:r>
            <a:endParaRPr lang="en-US" sz="2800" dirty="0"/>
          </a:p>
        </p:txBody>
      </p:sp>
      <p:sp>
        <p:nvSpPr>
          <p:cNvPr id="3" name="screenFrame"/>
          <p:cNvSpPr/>
          <p:nvPr/>
        </p:nvSpPr>
        <p:spPr>
          <a:xfrm>
            <a:off x="530352" y="1216152"/>
            <a:ext cx="7443216" cy="4358879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private/tmp/claude-501/-Users-rai-----Pathways/6ffe623f-58ac-4054-a933-66d23c8d1ff6/scratchpad/deck/img/ja/01_wind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406640" cy="4322303"/>
          </a:xfrm>
          <a:prstGeom prst="rect">
            <a:avLst/>
          </a:prstGeom>
        </p:spPr>
      </p:pic>
      <p:sp>
        <p:nvSpPr>
          <p:cNvPr id="5" name="num1"/>
          <p:cNvSpPr/>
          <p:nvPr/>
        </p:nvSpPr>
        <p:spPr>
          <a:xfrm>
            <a:off x="8321040" y="1298448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21040" y="1298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1280160"/>
            <a:ext cx="2864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左側のタブ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遺伝子・TF・経路・条件・破壊株・登録</a:t>
            </a:r>
            <a:endParaRPr lang="en-US" sz="1600" dirty="0"/>
          </a:p>
        </p:txBody>
      </p:sp>
      <p:sp>
        <p:nvSpPr>
          <p:cNvPr id="8" name="num2"/>
          <p:cNvSpPr/>
          <p:nvPr/>
        </p:nvSpPr>
        <p:spPr>
          <a:xfrm>
            <a:off x="8321040" y="2322576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21040" y="2322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78240" y="2304288"/>
            <a:ext cx="2864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検索欄と設定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遺伝子を探す。配置・経路の色・段数</a:t>
            </a:r>
            <a:endParaRPr lang="en-US" sz="1600" dirty="0"/>
          </a:p>
        </p:txBody>
      </p:sp>
      <p:sp>
        <p:nvSpPr>
          <p:cNvPr id="11" name="num3"/>
          <p:cNvSpPr/>
          <p:nvPr/>
        </p:nvSpPr>
        <p:spPr>
          <a:xfrm>
            <a:off x="8321040" y="3346704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21040" y="3346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778240" y="3328416"/>
            <a:ext cx="28648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地図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遺伝子（箱）と、そのあいだの関係</a:t>
            </a:r>
            <a:endParaRPr lang="en-US" sz="1600" dirty="0"/>
          </a:p>
        </p:txBody>
      </p:sp>
      <p:sp>
        <p:nvSpPr>
          <p:cNvPr id="14" name="num4"/>
          <p:cNvSpPr/>
          <p:nvPr/>
        </p:nvSpPr>
        <p:spPr>
          <a:xfrm>
            <a:off x="8321040" y="4123944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21040" y="4123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778240" y="4105656"/>
            <a:ext cx="2864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凡例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色と記号の意味。チェックを外すとその種類を隠す</a:t>
            </a:r>
            <a:endParaRPr lang="en-US" sz="1600" dirty="0"/>
          </a:p>
        </p:txBody>
      </p:sp>
      <p:sp>
        <p:nvSpPr>
          <p:cNvPr id="17" name="num5"/>
          <p:cNvSpPr/>
          <p:nvPr/>
        </p:nvSpPr>
        <p:spPr>
          <a:xfrm>
            <a:off x="8321040" y="5148072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321040" y="5148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778240" y="5129784"/>
            <a:ext cx="2864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説明欄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クリックしたものの説明・根拠・論文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5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1. 遺伝子を地図に出す</a:t>
            </a:r>
            <a:endParaRPr lang="en-US" sz="2800" dirty="0"/>
          </a:p>
        </p:txBody>
      </p:sp>
      <p:sp>
        <p:nvSpPr>
          <p:cNvPr id="3" name="screenFrame"/>
          <p:cNvSpPr/>
          <p:nvPr/>
        </p:nvSpPr>
        <p:spPr>
          <a:xfrm>
            <a:off x="530352" y="1216152"/>
            <a:ext cx="5400904" cy="3167044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private/tmp/claude-501/-Users-rai-----Pathways/6ffe623f-58ac-4054-a933-66d23c8d1ff6/scratchpad/deck/img/ja/02_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5364328" cy="31304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456348"/>
            <a:ext cx="536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遺伝子名を入れて「注目」を選ぶ</a:t>
            </a:r>
            <a:endParaRPr lang="en-US" sz="1200" dirty="0"/>
          </a:p>
        </p:txBody>
      </p:sp>
      <p:sp>
        <p:nvSpPr>
          <p:cNvPr id="6" name="screenFrame"/>
          <p:cNvSpPr/>
          <p:nvPr/>
        </p:nvSpPr>
        <p:spPr>
          <a:xfrm>
            <a:off x="6260440" y="1216152"/>
            <a:ext cx="5400904" cy="3167044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screenshot" descr="/private/tmp/claude-501/-Users-rai-----Pathways/6ffe623f-58ac-4054-a933-66d23c8d1ff6/scratchpad/deck/img/ja/03_foc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234440"/>
            <a:ext cx="5364328" cy="31304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278728" y="4456348"/>
            <a:ext cx="536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その遺伝子を中心に地図を描き直す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4892040"/>
            <a:ext cx="1109441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検索欄 ① に遺伝子名を入れる（SCH9 でも YHR205W でも可）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「注目」② を押すと、その遺伝子が橙の太い枠で出る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上流・下流の段数 ② でたどる深さを決める（まず 1〜2 段）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5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2. 地図の読み方</a:t>
            </a:r>
            <a:endParaRPr lang="en-US" sz="2800" dirty="0"/>
          </a:p>
        </p:txBody>
      </p:sp>
      <p:sp>
        <p:nvSpPr>
          <p:cNvPr id="3" name="readCard1"/>
          <p:cNvSpPr/>
          <p:nvPr/>
        </p:nvSpPr>
        <p:spPr>
          <a:xfrm>
            <a:off x="548640" y="1280160"/>
            <a:ext cx="3515258" cy="434340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線の終わり ＝ 作用</a:t>
            </a:r>
            <a:endParaRPr lang="en-US" sz="1800" dirty="0"/>
          </a:p>
        </p:txBody>
      </p:sp>
      <p:sp>
        <p:nvSpPr>
          <p:cNvPr id="5" name="readCard2"/>
          <p:cNvSpPr/>
          <p:nvPr/>
        </p:nvSpPr>
        <p:spPr>
          <a:xfrm>
            <a:off x="4338218" y="1280160"/>
            <a:ext cx="3515258" cy="434340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612538" y="150876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線の色 ＝ 種類</a:t>
            </a:r>
            <a:endParaRPr lang="en-US" sz="1800" dirty="0"/>
          </a:p>
        </p:txBody>
      </p:sp>
      <p:sp>
        <p:nvSpPr>
          <p:cNvPr id="7" name="readCard3"/>
          <p:cNvSpPr/>
          <p:nvPr/>
        </p:nvSpPr>
        <p:spPr>
          <a:xfrm>
            <a:off x="8127797" y="1280160"/>
            <a:ext cx="3515258" cy="434340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02117" y="150876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箱と枠</a:t>
            </a:r>
            <a:endParaRPr lang="en-US" sz="1800" dirty="0"/>
          </a:p>
        </p:txBody>
      </p:sp>
      <p:sp>
        <p:nvSpPr>
          <p:cNvPr id="9" name="arrow1"/>
          <p:cNvSpPr/>
          <p:nvPr/>
        </p:nvSpPr>
        <p:spPr>
          <a:xfrm>
            <a:off x="822960" y="2331720"/>
            <a:ext cx="1188720" cy="0"/>
          </a:xfrm>
          <a:prstGeom prst="line">
            <a:avLst/>
          </a:prstGeom>
          <a:noFill/>
          <a:ln w="31750">
            <a:solidFill>
              <a:srgbClr val="5F6B73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2331720" y="2057400"/>
            <a:ext cx="1457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促進</a:t>
            </a:r>
            <a:endParaRPr lang="en-US" sz="1400" dirty="0"/>
          </a:p>
        </p:txBody>
      </p:sp>
      <p:sp>
        <p:nvSpPr>
          <p:cNvPr id="11" name="arrow2"/>
          <p:cNvSpPr/>
          <p:nvPr/>
        </p:nvSpPr>
        <p:spPr>
          <a:xfrm>
            <a:off x="822960" y="3108960"/>
            <a:ext cx="1188720" cy="0"/>
          </a:xfrm>
          <a:prstGeom prst="line">
            <a:avLst/>
          </a:prstGeom>
          <a:noFill/>
          <a:ln w="31750">
            <a:solidFill>
              <a:srgbClr val="5F6B73"/>
            </a:solidFill>
            <a:prstDash val="solid"/>
          </a:ln>
        </p:spPr>
      </p:sp>
      <p:sp>
        <p:nvSpPr>
          <p:cNvPr id="12" name="tbar"/>
          <p:cNvSpPr/>
          <p:nvPr/>
        </p:nvSpPr>
        <p:spPr>
          <a:xfrm>
            <a:off x="2011680" y="2990088"/>
            <a:ext cx="0" cy="237744"/>
          </a:xfrm>
          <a:prstGeom prst="line">
            <a:avLst/>
          </a:prstGeom>
          <a:noFill/>
          <a:ln w="38100">
            <a:solidFill>
              <a:srgbClr val="5F6B7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331720" y="2834640"/>
            <a:ext cx="1457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抑制</a:t>
            </a:r>
            <a:endParaRPr lang="en-US" sz="1400" dirty="0"/>
          </a:p>
        </p:txBody>
      </p:sp>
      <p:sp>
        <p:nvSpPr>
          <p:cNvPr id="14" name="arrow3"/>
          <p:cNvSpPr/>
          <p:nvPr/>
        </p:nvSpPr>
        <p:spPr>
          <a:xfrm>
            <a:off x="822960" y="3886200"/>
            <a:ext cx="1188720" cy="0"/>
          </a:xfrm>
          <a:prstGeom prst="line">
            <a:avLst/>
          </a:prstGeom>
          <a:noFill/>
          <a:ln w="31750">
            <a:solidFill>
              <a:srgbClr val="5F6B73"/>
            </a:solidFill>
            <a:prstDash val="solid"/>
          </a:ln>
        </p:spPr>
      </p:sp>
      <p:sp>
        <p:nvSpPr>
          <p:cNvPr id="15" name="diamond"/>
          <p:cNvSpPr/>
          <p:nvPr/>
        </p:nvSpPr>
        <p:spPr>
          <a:xfrm>
            <a:off x="1993392" y="3794760"/>
            <a:ext cx="182880" cy="18288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5F6B7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331720" y="3611880"/>
            <a:ext cx="1457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作用不明（どちらもありうる）</a:t>
            </a:r>
            <a:endParaRPr lang="en-US" sz="1400" dirty="0"/>
          </a:p>
        </p:txBody>
      </p:sp>
      <p:sp>
        <p:nvSpPr>
          <p:cNvPr id="17" name="arrow4"/>
          <p:cNvSpPr/>
          <p:nvPr/>
        </p:nvSpPr>
        <p:spPr>
          <a:xfrm>
            <a:off x="822960" y="4663440"/>
            <a:ext cx="1188720" cy="0"/>
          </a:xfrm>
          <a:prstGeom prst="line">
            <a:avLst/>
          </a:prstGeom>
          <a:noFill/>
          <a:ln w="31750">
            <a:solidFill>
              <a:srgbClr val="5F6B73"/>
            </a:solidFill>
            <a:prstDash val="sysDot"/>
          </a:ln>
        </p:spPr>
      </p:sp>
      <p:sp>
        <p:nvSpPr>
          <p:cNvPr id="18" name="Text 16"/>
          <p:cNvSpPr txBox="1"/>
          <p:nvPr/>
        </p:nvSpPr>
        <p:spPr>
          <a:xfrm>
            <a:off x="2331720" y="4389120"/>
            <a:ext cx="1457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結合（向きなし）</a:t>
            </a:r>
            <a:endParaRPr lang="en-US" sz="1400" dirty="0"/>
          </a:p>
        </p:txBody>
      </p:sp>
      <p:sp>
        <p:nvSpPr>
          <p:cNvPr id="19" name="type1"/>
          <p:cNvSpPr/>
          <p:nvPr/>
        </p:nvSpPr>
        <p:spPr>
          <a:xfrm>
            <a:off x="4612538" y="2331720"/>
            <a:ext cx="685800" cy="0"/>
          </a:xfrm>
          <a:prstGeom prst="line">
            <a:avLst/>
          </a:prstGeom>
          <a:noFill/>
          <a:ln w="44450">
            <a:solidFill>
              <a:srgbClr val="F07F1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89778" y="2194560"/>
            <a:ext cx="4114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AAB2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938418" y="2075688"/>
            <a:ext cx="16407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リン酸化</a:t>
            </a:r>
            <a:endParaRPr lang="en-US" sz="1400" dirty="0"/>
          </a:p>
        </p:txBody>
      </p:sp>
      <p:sp>
        <p:nvSpPr>
          <p:cNvPr id="22" name="type2"/>
          <p:cNvSpPr/>
          <p:nvPr/>
        </p:nvSpPr>
        <p:spPr>
          <a:xfrm>
            <a:off x="4612538" y="2971800"/>
            <a:ext cx="685800" cy="0"/>
          </a:xfrm>
          <a:prstGeom prst="line">
            <a:avLst/>
          </a:prstGeom>
          <a:noFill/>
          <a:ln w="44450">
            <a:solidFill>
              <a:srgbClr val="7B2FA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389778" y="2834640"/>
            <a:ext cx="4114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AAB2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-P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938418" y="2715768"/>
            <a:ext cx="16407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脱リン酸化</a:t>
            </a:r>
            <a:endParaRPr lang="en-US" sz="1400" dirty="0"/>
          </a:p>
        </p:txBody>
      </p:sp>
      <p:sp>
        <p:nvSpPr>
          <p:cNvPr id="25" name="type3"/>
          <p:cNvSpPr/>
          <p:nvPr/>
        </p:nvSpPr>
        <p:spPr>
          <a:xfrm>
            <a:off x="4612538" y="3611880"/>
            <a:ext cx="685800" cy="0"/>
          </a:xfrm>
          <a:prstGeom prst="line">
            <a:avLst/>
          </a:prstGeom>
          <a:noFill/>
          <a:ln w="44450">
            <a:solidFill>
              <a:srgbClr val="2F6FD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389778" y="3474720"/>
            <a:ext cx="4114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AAB2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938418" y="3355848"/>
            <a:ext cx="16407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転写制御</a:t>
            </a:r>
            <a:endParaRPr lang="en-US" sz="1400" dirty="0"/>
          </a:p>
        </p:txBody>
      </p:sp>
      <p:sp>
        <p:nvSpPr>
          <p:cNvPr id="28" name="type4"/>
          <p:cNvSpPr/>
          <p:nvPr/>
        </p:nvSpPr>
        <p:spPr>
          <a:xfrm>
            <a:off x="4612538" y="4251960"/>
            <a:ext cx="685800" cy="0"/>
          </a:xfrm>
          <a:prstGeom prst="line">
            <a:avLst/>
          </a:prstGeom>
          <a:noFill/>
          <a:ln w="44450">
            <a:solidFill>
              <a:srgbClr val="5F6B7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389778" y="4114800"/>
            <a:ext cx="4114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AAB2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—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938418" y="3995928"/>
            <a:ext cx="16407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機構不明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612538" y="4892040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「経路の色」を作用にすると、赤＝促進・青＝抑制で塗る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402117" y="2148840"/>
            <a:ext cx="868680" cy="365760"/>
          </a:xfrm>
          <a:prstGeom prst="roundRect">
            <a:avLst>
              <a:gd name="adj" fmla="val 15000"/>
            </a:avLst>
          </a:prstGeom>
          <a:solidFill>
            <a:srgbClr val="7DC383"/>
          </a:solidFill>
          <a:ln w="31750">
            <a:solidFill>
              <a:srgbClr val="E8710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SCH9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453677" y="2057400"/>
            <a:ext cx="1915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注目した遺伝子（橙）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402117" y="2798064"/>
            <a:ext cx="868680" cy="438912"/>
          </a:xfrm>
          <a:prstGeom prst="roundRect">
            <a:avLst>
              <a:gd name="adj" fmla="val 12500"/>
            </a:avLst>
          </a:prstGeom>
          <a:solidFill>
            <a:srgbClr val="7DC383"/>
          </a:solidFill>
          <a:ln w="12700">
            <a:solidFill>
              <a:srgbClr val="4F8F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SNF1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+138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9453677" y="2743200"/>
            <a:ext cx="1915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+数字：描いていない下流の数</a:t>
            </a:r>
            <a:endParaRPr lang="en-US" sz="1400" dirty="0"/>
          </a:p>
        </p:txBody>
      </p:sp>
      <p:sp>
        <p:nvSpPr>
          <p:cNvPr id="36" name="complexFrame"/>
          <p:cNvSpPr/>
          <p:nvPr/>
        </p:nvSpPr>
        <p:spPr>
          <a:xfrm>
            <a:off x="8402117" y="3483864"/>
            <a:ext cx="868680" cy="438912"/>
          </a:xfrm>
          <a:prstGeom prst="roundRect">
            <a:avLst>
              <a:gd name="adj" fmla="val 12500"/>
            </a:avLst>
          </a:prstGeom>
          <a:solidFill>
            <a:srgbClr val="FBF6DC"/>
          </a:solidFill>
          <a:ln w="19050">
            <a:solidFill>
              <a:srgbClr val="B9A93A"/>
            </a:solidFill>
            <a:prstDash val="dash"/>
          </a:ln>
        </p:spPr>
      </p:sp>
      <p:sp>
        <p:nvSpPr>
          <p:cNvPr id="37" name="Text 35"/>
          <p:cNvSpPr txBox="1"/>
          <p:nvPr/>
        </p:nvSpPr>
        <p:spPr>
          <a:xfrm>
            <a:off x="9453677" y="3429000"/>
            <a:ext cx="1915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点線の枠：複合体</a:t>
            </a:r>
            <a:endParaRPr lang="en-US" sz="1400" dirty="0"/>
          </a:p>
        </p:txBody>
      </p:sp>
      <p:sp>
        <p:nvSpPr>
          <p:cNvPr id="38" name="paralogOuter"/>
          <p:cNvSpPr/>
          <p:nvPr/>
        </p:nvSpPr>
        <p:spPr>
          <a:xfrm>
            <a:off x="8402117" y="4169664"/>
            <a:ext cx="868680" cy="438912"/>
          </a:xfrm>
          <a:prstGeom prst="roundRect">
            <a:avLst>
              <a:gd name="adj" fmla="val 12500"/>
            </a:avLst>
          </a:prstGeom>
          <a:solidFill>
            <a:srgbClr val="EFE6F6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39" name="paralogInner"/>
          <p:cNvSpPr/>
          <p:nvPr/>
        </p:nvSpPr>
        <p:spPr>
          <a:xfrm>
            <a:off x="8447837" y="4215384"/>
            <a:ext cx="777240" cy="347472"/>
          </a:xfrm>
          <a:prstGeom prst="roundRect">
            <a:avLst>
              <a:gd name="adj" fmla="val 13158"/>
            </a:avLst>
          </a:prstGeom>
          <a:solidFill>
            <a:srgbClr val="EFE6F6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453677" y="4114800"/>
            <a:ext cx="1915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二重線の枠：パラログ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8402117" y="4892040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上流ほど上の段に並ぶ。箱の色は遺伝子の役割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5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3. クリックして説明と根拠を見る</a:t>
            </a:r>
            <a:endParaRPr lang="en-US" sz="2800" dirty="0"/>
          </a:p>
        </p:txBody>
      </p:sp>
      <p:sp>
        <p:nvSpPr>
          <p:cNvPr id="3" name="screenFrame"/>
          <p:cNvSpPr/>
          <p:nvPr/>
        </p:nvSpPr>
        <p:spPr>
          <a:xfrm>
            <a:off x="530352" y="1216152"/>
            <a:ext cx="7443216" cy="4358879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private/tmp/claude-501/-Users-rai-----Pathways/6ffe623f-58ac-4054-a933-66d23c8d1ff6/scratchpad/deck/img/ja/07_e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406640" cy="4322303"/>
          </a:xfrm>
          <a:prstGeom prst="rect">
            <a:avLst/>
          </a:prstGeom>
        </p:spPr>
      </p:pic>
      <p:sp>
        <p:nvSpPr>
          <p:cNvPr id="5" name="num1"/>
          <p:cNvSpPr/>
          <p:nvPr/>
        </p:nvSpPr>
        <p:spPr>
          <a:xfrm>
            <a:off x="8321040" y="1298448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21040" y="1298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1280160"/>
            <a:ext cx="2864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遺伝子や線をクリック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選んだ遺伝子をもう一度押すと「拡張」（周りを加える）か「注目」</a:t>
            </a:r>
            <a:endParaRPr lang="en-US" sz="1600" dirty="0"/>
          </a:p>
        </p:txBody>
      </p:sp>
      <p:sp>
        <p:nvSpPr>
          <p:cNvPr id="8" name="num2"/>
          <p:cNvSpPr/>
          <p:nvPr/>
        </p:nvSpPr>
        <p:spPr>
          <a:xfrm>
            <a:off x="8321040" y="2322576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21040" y="2322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78240" y="2304288"/>
            <a:ext cx="2864815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根拠を読む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種類・作用・確度（A 文献で確認〜D 推定だけ）・条件・PubMed へのリンク・SGD／YEASTRACT+ へのリンク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5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経路タブ — 2 つの遺伝子はどうつながる？</a:t>
            </a:r>
            <a:endParaRPr lang="en-US" sz="2800" dirty="0"/>
          </a:p>
        </p:txBody>
      </p:sp>
      <p:sp>
        <p:nvSpPr>
          <p:cNvPr id="3" name="screenFrame"/>
          <p:cNvSpPr/>
          <p:nvPr/>
        </p:nvSpPr>
        <p:spPr>
          <a:xfrm>
            <a:off x="530352" y="1216152"/>
            <a:ext cx="7443216" cy="4358879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private/tmp/claude-501/-Users-rai-----Pathways/6ffe623f-58ac-4054-a933-66d23c8d1ff6/scratchpad/deck/img/ja/09_re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406640" cy="4322303"/>
          </a:xfrm>
          <a:prstGeom prst="rect">
            <a:avLst/>
          </a:prstGeom>
        </p:spPr>
      </p:pic>
      <p:sp>
        <p:nvSpPr>
          <p:cNvPr id="5" name="num1"/>
          <p:cNvSpPr/>
          <p:nvPr/>
        </p:nvSpPr>
        <p:spPr>
          <a:xfrm>
            <a:off x="8321040" y="1298448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21040" y="1298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1280160"/>
            <a:ext cx="28648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出す経路を選ぶ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例：すべての経路、段数 2</a:t>
            </a:r>
            <a:endParaRPr lang="en-US" sz="1600" dirty="0"/>
          </a:p>
        </p:txBody>
      </p:sp>
      <p:sp>
        <p:nvSpPr>
          <p:cNvPr id="8" name="num2"/>
          <p:cNvSpPr/>
          <p:nvPr/>
        </p:nvSpPr>
        <p:spPr>
          <a:xfrm>
            <a:off x="8321040" y="2075688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21040" y="2075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78240" y="2057400"/>
            <a:ext cx="28648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遺伝子にチェック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注目・拡張した遺伝子が並ぶ</a:t>
            </a:r>
            <a:endParaRPr lang="en-US" sz="1600" dirty="0"/>
          </a:p>
        </p:txBody>
      </p:sp>
      <p:sp>
        <p:nvSpPr>
          <p:cNvPr id="11" name="num3"/>
          <p:cNvSpPr/>
          <p:nvPr/>
        </p:nvSpPr>
        <p:spPr>
          <a:xfrm>
            <a:off x="8321040" y="2852928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21040" y="2852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778240" y="2834640"/>
            <a:ext cx="28648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経路を選ぶ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地図にその経路を描いて強調する</a:t>
            </a:r>
            <a:endParaRPr lang="en-US" sz="1600" dirty="0"/>
          </a:p>
        </p:txBody>
      </p:sp>
      <p:sp>
        <p:nvSpPr>
          <p:cNvPr id="14" name="num4"/>
          <p:cNvSpPr/>
          <p:nvPr/>
        </p:nvSpPr>
        <p:spPr>
          <a:xfrm>
            <a:off x="8321040" y="3630168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21040" y="3630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778240" y="3611880"/>
            <a:ext cx="28648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段ごとの関係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経路の 1 本ずつの関係と確度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5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条件タブ — その条件で報告された経路だけを見る</a:t>
            </a:r>
            <a:endParaRPr lang="en-US" sz="2800" dirty="0"/>
          </a:p>
        </p:txBody>
      </p:sp>
      <p:sp>
        <p:nvSpPr>
          <p:cNvPr id="3" name="screenFrame"/>
          <p:cNvSpPr/>
          <p:nvPr/>
        </p:nvSpPr>
        <p:spPr>
          <a:xfrm>
            <a:off x="530352" y="1216152"/>
            <a:ext cx="7443216" cy="4358879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private/tmp/claude-501/-Users-rai-----Pathways/6ffe623f-58ac-4054-a933-66d23c8d1ff6/scratchpad/deck/img/ja/10_condi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406640" cy="4322303"/>
          </a:xfrm>
          <a:prstGeom prst="rect">
            <a:avLst/>
          </a:prstGeom>
        </p:spPr>
      </p:pic>
      <p:sp>
        <p:nvSpPr>
          <p:cNvPr id="5" name="num1"/>
          <p:cNvSpPr/>
          <p:nvPr/>
        </p:nvSpPr>
        <p:spPr>
          <a:xfrm>
            <a:off x="8321040" y="1298448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21040" y="1298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1280160"/>
            <a:ext cx="2864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条件にチェック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「すべて解除」してから、熱ショック・薬剤などにチェック</a:t>
            </a:r>
            <a:endParaRPr lang="en-US" sz="1600" dirty="0"/>
          </a:p>
        </p:txBody>
      </p:sp>
      <p:sp>
        <p:nvSpPr>
          <p:cNvPr id="8" name="num2"/>
          <p:cNvSpPr/>
          <p:nvPr/>
        </p:nvSpPr>
        <p:spPr>
          <a:xfrm>
            <a:off x="8321040" y="2322576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21040" y="2322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78240" y="2304288"/>
            <a:ext cx="2864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合う経路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その経路だけが地図に残る。押すと根拠が出る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721335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左上を「遺伝子」にすると、選んだ条件で mRNA やリン酸化が 2 倍以上変わる遺伝子を目立たせます。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5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破壊株タブ — 遺伝子を壊すと何が変わる？</a:t>
            </a:r>
            <a:endParaRPr lang="en-US" sz="2800" dirty="0"/>
          </a:p>
        </p:txBody>
      </p:sp>
      <p:sp>
        <p:nvSpPr>
          <p:cNvPr id="3" name="screenFrame"/>
          <p:cNvSpPr/>
          <p:nvPr/>
        </p:nvSpPr>
        <p:spPr>
          <a:xfrm>
            <a:off x="530352" y="1216152"/>
            <a:ext cx="7443216" cy="4358879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private/tmp/claude-501/-Users-rai-----Pathways/6ffe623f-58ac-4054-a933-66d23c8d1ff6/scratchpad/deck/img/ja/11_dele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406640" cy="4322303"/>
          </a:xfrm>
          <a:prstGeom prst="rect">
            <a:avLst/>
          </a:prstGeom>
        </p:spPr>
      </p:pic>
      <p:sp>
        <p:nvSpPr>
          <p:cNvPr id="5" name="num1"/>
          <p:cNvSpPr/>
          <p:nvPr/>
        </p:nvSpPr>
        <p:spPr>
          <a:xfrm>
            <a:off x="8321040" y="1298448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21040" y="1298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1280160"/>
            <a:ext cx="2864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株を探す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「壊した遺伝子」にして名前を入れる（例：XRN1）</a:t>
            </a:r>
            <a:endParaRPr lang="en-US" sz="1600" dirty="0"/>
          </a:p>
        </p:txBody>
      </p:sp>
      <p:sp>
        <p:nvSpPr>
          <p:cNvPr id="8" name="num2"/>
          <p:cNvSpPr/>
          <p:nvPr/>
        </p:nvSpPr>
        <p:spPr>
          <a:xfrm>
            <a:off x="8321040" y="2322576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21040" y="2322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78240" y="2304288"/>
            <a:ext cx="28648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株を押す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地図の色：赤＝増えた、青＝減った</a:t>
            </a:r>
            <a:endParaRPr lang="en-US" sz="1600" dirty="0"/>
          </a:p>
        </p:txBody>
      </p:sp>
      <p:sp>
        <p:nvSpPr>
          <p:cNvPr id="11" name="num3"/>
          <p:cNvSpPr/>
          <p:nvPr/>
        </p:nvSpPr>
        <p:spPr>
          <a:xfrm>
            <a:off x="8321040" y="3099816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21040" y="30998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778240" y="3081528"/>
            <a:ext cx="2864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変わった遺伝子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その株で変わった、今の地図の遺伝子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721335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mRNA：Deleteome（Kemmeren 2014、1,481 株）。リン酸化：Bodenmiller 2010（キナーゼ・ホスファターゼの 113 株）。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5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そのほかの機能</a:t>
            </a:r>
            <a:endParaRPr lang="en-US" sz="2800" dirty="0"/>
          </a:p>
        </p:txBody>
      </p:sp>
      <p:sp>
        <p:nvSpPr>
          <p:cNvPr id="3" name="moreCard1"/>
          <p:cNvSpPr/>
          <p:nvPr/>
        </p:nvSpPr>
        <p:spPr>
          <a:xfrm>
            <a:off x="548640" y="1280160"/>
            <a:ext cx="3515258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⧉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表示枠を増やす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「新しい枠」で最大 4 つの地図を並べる</a:t>
            </a:r>
            <a:endParaRPr lang="en-US" sz="1700" dirty="0"/>
          </a:p>
        </p:txBody>
      </p:sp>
      <p:sp>
        <p:nvSpPr>
          <p:cNvPr id="6" name="moreCard2"/>
          <p:cNvSpPr/>
          <p:nvPr/>
        </p:nvSpPr>
        <p:spPr>
          <a:xfrm>
            <a:off x="4338218" y="1280160"/>
            <a:ext cx="3515258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12538" y="1554480"/>
            <a:ext cx="548640" cy="548640"/>
          </a:xfrm>
          <a:prstGeom prst="ellipse">
            <a:avLst/>
          </a:prstGeom>
          <a:solidFill>
            <a:schemeClr val="accent2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★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612538" y="22402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登録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地図に名前を付けて保存・呼び出し（このブラウザに残る）</a:t>
            </a:r>
            <a:endParaRPr lang="en-US" sz="1700" dirty="0"/>
          </a:p>
        </p:txBody>
      </p:sp>
      <p:sp>
        <p:nvSpPr>
          <p:cNvPr id="9" name="moreCard3"/>
          <p:cNvSpPr/>
          <p:nvPr/>
        </p:nvSpPr>
        <p:spPr>
          <a:xfrm>
            <a:off x="8127797" y="1280160"/>
            <a:ext cx="3515258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02117" y="1554480"/>
            <a:ext cx="548640" cy="548640"/>
          </a:xfrm>
          <a:prstGeom prst="ellipse">
            <a:avLst/>
          </a:prstGeom>
          <a:solidFill>
            <a:schemeClr val="accent3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↓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402117" y="22402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PNG・SVG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地図全体を画像で保存</a:t>
            </a:r>
            <a:endParaRPr lang="en-US" sz="1700" dirty="0"/>
          </a:p>
        </p:txBody>
      </p:sp>
      <p:sp>
        <p:nvSpPr>
          <p:cNvPr id="12" name="moreCard4"/>
          <p:cNvSpPr/>
          <p:nvPr/>
        </p:nvSpPr>
        <p:spPr>
          <a:xfrm>
            <a:off x="548640" y="3703320"/>
            <a:ext cx="3515258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977640"/>
            <a:ext cx="548640" cy="548640"/>
          </a:xfrm>
          <a:prstGeom prst="ellipse">
            <a:avLst/>
          </a:prstGeom>
          <a:solidFill>
            <a:schemeClr val="accent5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‹ ›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66344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戻る・進む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前の地図・前の説明に戻る</a:t>
            </a:r>
            <a:endParaRPr lang="en-US" sz="1700" dirty="0"/>
          </a:p>
        </p:txBody>
      </p:sp>
      <p:sp>
        <p:nvSpPr>
          <p:cNvPr id="15" name="moreCard5"/>
          <p:cNvSpPr/>
          <p:nvPr/>
        </p:nvSpPr>
        <p:spPr>
          <a:xfrm>
            <a:off x="4338218" y="3703320"/>
            <a:ext cx="3515258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12538" y="3977640"/>
            <a:ext cx="548640" cy="548640"/>
          </a:xfrm>
          <a:prstGeom prst="ellipse">
            <a:avLst/>
          </a:prstGeom>
          <a:solidFill>
            <a:schemeClr val="accent4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?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612538" y="466344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どこでも Help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各欄の一番下に Help。右上に操作ガイド</a:t>
            </a:r>
            <a:endParaRPr lang="en-US" sz="1700" dirty="0"/>
          </a:p>
        </p:txBody>
      </p:sp>
      <p:sp>
        <p:nvSpPr>
          <p:cNvPr id="18" name="moreCard6"/>
          <p:cNvSpPr/>
          <p:nvPr/>
        </p:nvSpPr>
        <p:spPr>
          <a:xfrm>
            <a:off x="8127797" y="3703320"/>
            <a:ext cx="3515258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02117" y="3977640"/>
            <a:ext cx="548640" cy="548640"/>
          </a:xfrm>
          <a:prstGeom prst="ellipse">
            <a:avLst/>
          </a:prstGeom>
          <a:solidFill>
            <a:schemeClr val="tx2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402117" y="466344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日本語 / English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メニューの「言語 / Language」で切り替え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5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データの出どころ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公開データベース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SGD・BioGRID・YEASTRACT+・GO-CAM・UniProt・Complex Portal・Alliance（2026 年 9〜10 月に取得。定期的に更新）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9748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文献調査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主な関係を 4,718 本の論文で確認。関係ごとに PMID を表示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2336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実測データ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発現（SGD SPELL）・リン酸化（Leutert 2023）・破壊株</a:t>
            </a:r>
            <a:endParaRPr lang="en-US" sz="1600" dirty="0"/>
          </a:p>
        </p:txBody>
      </p:sp>
      <p:sp>
        <p:nvSpPr>
          <p:cNvPr id="6" name="noteCard"/>
          <p:cNvSpPr/>
          <p:nvPr/>
        </p:nvSpPr>
        <p:spPr>
          <a:xfrm>
            <a:off x="7086600" y="1280160"/>
            <a:ext cx="4556455" cy="3794760"/>
          </a:xfrm>
          <a:prstGeom prst="roundRect">
            <a:avLst>
              <a:gd name="adj" fmla="val 2410"/>
            </a:avLst>
          </a:prstGeom>
          <a:solidFill>
            <a:srgbClr val="FDF1E6"/>
          </a:solidFill>
          <a:ln w="12700">
            <a:solidFill>
              <a:srgbClr val="FDF1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1508760"/>
            <a:ext cx="39163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ご注意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2057400"/>
            <a:ext cx="391637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「作用不明」は、促進・抑制のどちらにもなりうる関係です。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同梱のデータは各出典の利用条件に従います。使うときは元の出典を引用してください（情報源タブに一覧）。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地図は文献への道しるべです。結論は元の論文で確かめてください。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5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さっそく開いてみる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2E0"/>
                </a:solidFill>
              </a:rPr>
              <a:t>パソコンのブラウザ（Chrome・Edge・Safari・Firefox）で開いてください。</a:t>
            </a:r>
            <a:endParaRPr lang="en-US" sz="1800" dirty="0"/>
          </a:p>
        </p:txBody>
      </p:sp>
      <p:sp>
        <p:nvSpPr>
          <p:cNvPr id="4" name="Text 2">
            <a:hlinkClick r:id="rId1" tooltip=""/>
          </p:cNvPr>
          <p:cNvSpPr txBox="1"/>
          <p:nvPr/>
        </p:nvSpPr>
        <p:spPr>
          <a:xfrm>
            <a:off x="548640" y="40690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chemeClr val="accent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https://raico-lab.github.io/pathways_viewer_sc/</a:t>
            </a:r>
            <a:endParaRPr lang="en-US" sz="2200" dirty="0"/>
          </a:p>
        </p:txBody>
      </p:sp>
      <p:sp>
        <p:nvSpPr>
          <p:cNvPr id="5" name="Text 3">
            <a:hlinkClick r:id="rId2" tooltip=""/>
          </p:cNvPr>
          <p:cNvSpPr txBox="1"/>
          <p:nvPr/>
        </p:nvSpPr>
        <p:spPr>
          <a:xfrm>
            <a:off x="548640" y="4709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C9D2E0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ソースコード：github.com/Raico-lab/pathways_viewer_sc</a:t>
            </a:r>
            <a:endParaRPr lang="en-US" sz="1400" dirty="0"/>
          </a:p>
        </p:txBody>
      </p:sp>
      <p:sp>
        <p:nvSpPr>
          <p:cNvPr id="6" name="qrCard"/>
          <p:cNvSpPr/>
          <p:nvPr/>
        </p:nvSpPr>
        <p:spPr>
          <a:xfrm>
            <a:off x="8869680" y="2011680"/>
            <a:ext cx="265176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qrCode" descr="https://raico-lab.github.io/pathways_viewer_sc/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0" y="2148840"/>
            <a:ext cx="2377440" cy="2377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athways viewer">
  <a:themeElements>
    <a:clrScheme name="Pathways viewer">
      <a:dk1>
        <a:srgbClr val="1B1F27"/>
      </a:dk1>
      <a:lt1>
        <a:srgbClr val="FFFFFF"/>
      </a:lt1>
      <a:dk2>
        <a:srgbClr val="16233B"/>
      </a:dk2>
      <a:lt2>
        <a:srgbClr val="F1F4F8"/>
      </a:lt2>
      <a:accent1>
        <a:srgbClr val="E8710A"/>
      </a:accent1>
      <a:accent2>
        <a:srgbClr val="7B3FA0"/>
      </a:accent2>
      <a:accent3>
        <a:srgbClr val="3E9A4F"/>
      </a:accent3>
      <a:accent4>
        <a:srgbClr val="E03131"/>
      </a:accent4>
      <a:accent5>
        <a:srgbClr val="2F6FB5"/>
      </a:accent5>
      <a:accent6>
        <a:srgbClr val="6B7588"/>
      </a:accent6>
      <a:hlink>
        <a:srgbClr val="2F6FB5"/>
      </a:hlink>
      <a:folHlink>
        <a:srgbClr val="7B3FA0"/>
      </a:folHlink>
    </a:clrScheme>
    <a:fontScheme name="Pathways viewer">
      <a:majorFont>
        <a:latin typeface="Yu Gothic"/>
        <a:ea typeface="Yu Gothi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Yu Gothi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Pathways viewer for Saccharomyces cerevisiae</dc:title>
  <dc:subject>PptxGenJS Presentation</dc:subject>
  <dc:creator>Rai Katsukawa</dc:creator>
  <cp:lastModifiedBy>Rai Katsukawa</cp:lastModifiedBy>
  <cp:revision>1</cp:revision>
  <dcterms:created xsi:type="dcterms:W3CDTF">2026-10-15T05:15:46Z</dcterms:created>
  <dcterms:modified xsi:type="dcterms:W3CDTF">2026-10-15T05:15:46Z</dcterms:modified>
</cp:coreProperties>
</file>